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trong 30–45 giây: giới thiệu FastRide Express là nền tảng gồm hai dịch vụ Delivery và Drive. Nhấn mạnh điểm xuyên suốt của đồ án: mobile tách vai trò nhưng dùng chung backend và cùng một nguồn dữ liệu chuẩn.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50 giây. Nêu hai bài toán người dùng: giao hàng và chở khách. Cả hai có cùng các bước báo giá, matching, thanh toán và đánh giá, nhưng state machine và bằng chứng thực hiện khác nhau. Vì vậy hệ thống phải dùng chung nền tảng nhưng không trộn dữ liệu Delivery và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45 giây. Đi qua bốn nhóm actor và nhấn mạnh ownership. Mobile không tự tính giá hay tự đổi state. Worker là nơi duy nhất ghi DB và quyết định nghiệp vụ; realtime chỉ vận chuyển event và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60 giây. Đây là slide trình diễn sản phẩm. Bên trái là customer journey: chọn dịch vụ, địa chỉ, voucher và ví. Bên phải là driver journey: xem ca chạy, ví thu nhập và lịch sử. Hai app có ngôn ngữ thị giác khác nhau nhưng đều lấy trạng thái authoritative từ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60 giây. Trình bày năm bước chung. Sau đó phân biệt hai state machine: Delivery có pickup, proof và nhánh return; Drive có arriving, arrived và in-trip. Mọi command kiểm tra current_status trong transaction, ghi status history và dùng idempotency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70 giây. Đây là slide kiến trúc chính. Đi từ hai mobile vào Laravel worker. Worker ghi PostgreSQL trong transaction, sau commit mới đẩy outbox vào Redis. Node.js nhận event, phát đúng room Socket.IO và đẩy notification. Redis giữ queue, presence và TTL; không giữ trạng thái thanh toán hay state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60 giây. Mô tả một offer: tài xế gửi presence và GPS, worker lọc ứng viên, tạo offer batch. Khi accept, worker khóa request và driver trong transaction; chỉ một assignment active. Outbox publish sau commit. Nếu socket mất, customer và driver nạp snapshot từ API; event chỉ là tín hiệu cập nhật.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55 giây. So sánh state machine. Delivery có pickup và nhánh return trên cùng order. Drive có arriving/arrived/in-trip; không hủy thông thường giữa chuyến. Đây là phần thể hiện rõ nhất việc tách nghiệp vụ dù dùng chung hạ tầng.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60 giây. Giải thích vì sao payment và service status độc lập. Ví dụ 100.000 đồng: voucher giảm phần khách trả nhưng không làm giảm gross earning của tài xế; phí nền tảng ghi sau hoàn tất. Mọi giao dịch có idempotency key và ledger cân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50 giây. Nêu bốn lớp kiểm soát: auth, authorization, bảo vệ dữ liệu nhạy cảm và recovery. Có thể nhấn mạnh location chỉ là snapshot cuối, evidence private, room realtime kiểm tra quyền và mọi command retry giữ nguyên idempotency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50 giây. Dẫn qua trạng thái phase: 0–10 hoàn tất, phase 11 còn hardening và demo seed. Các con số là dấu vết trong repo, không phải benchmark tải. Kết luận: MVP đã có đường đi end-to-end, phần tiếp theo là tăng độ bền và chuẩn hóa demo/deploy.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trong 30–45 giây. Nếu được demo trực tiếp, đi theo đúng bốn bước: customer tạo Delivery, driver nhận offer, customer thấy realtime, hoàn tất và xem settlement. Chốt lại thông điệp: hai app tách vai trò, nhưng backend giữ sự nhất quán và audit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8F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B2B"/>
          </a:solidFill>
          <a:ln w="12700">
            <a:solidFill>
              <a:srgbClr val="0B1B2B">
                <a:alpha val="0"/>
              </a:srgbClr>
            </a:solidFill>
            <a:prstDash val="solid"/>
          </a:ln>
        </p:spPr>
      </p:sp>
      <p:sp>
        <p:nvSpPr>
          <p:cNvPr id="3" name="Shape 1"/>
          <p:cNvSpPr/>
          <p:nvPr/>
        </p:nvSpPr>
        <p:spPr>
          <a:xfrm>
            <a:off x="7635240" y="-1234440"/>
            <a:ext cx="5669280" cy="5669280"/>
          </a:xfrm>
          <a:prstGeom prst="arc">
            <a:avLst/>
          </a:prstGeom>
          <a:solidFill>
            <a:srgbClr val="0B1B2B">
              <a:alpha val="0"/>
            </a:srgbClr>
          </a:solidFill>
          <a:ln w="20320">
            <a:solidFill>
              <a:srgbClr val="18C98B">
                <a:alpha val="22000"/>
              </a:srgbClr>
            </a:solidFill>
            <a:prstDash val="solid"/>
          </a:ln>
        </p:spPr>
      </p:sp>
      <p:sp>
        <p:nvSpPr>
          <p:cNvPr id="4" name="Shape 2"/>
          <p:cNvSpPr/>
          <p:nvPr/>
        </p:nvSpPr>
        <p:spPr>
          <a:xfrm>
            <a:off x="8549640" y="3794760"/>
            <a:ext cx="4297680" cy="4297680"/>
          </a:xfrm>
          <a:prstGeom prst="arc">
            <a:avLst/>
          </a:prstGeom>
          <a:solidFill>
            <a:srgbClr val="0B1B2B">
              <a:alpha val="0"/>
            </a:srgbClr>
          </a:solidFill>
          <a:ln w="13970">
            <a:solidFill>
              <a:srgbClr val="F4B942">
                <a:alpha val="22000"/>
              </a:srgbClr>
            </a:solidFill>
            <a:prstDash val="solid"/>
          </a:ln>
        </p:spPr>
      </p:sp>
      <p:pic>
        <p:nvPicPr>
          <p:cNvPr id="5" name="Image 0" descr="C:\Users\truonghocdot\Workspace\study\graduation_project\docs\design\client\fastride_express_logo\screen.png">    </p:cNvPr>
          <p:cNvPicPr>
            <a:picLocks noChangeAspect="1"/>
          </p:cNvPicPr>
          <p:nvPr/>
        </p:nvPicPr>
        <p:blipFill>
          <a:blip r:embed="rId1"/>
          <a:stretch>
            <a:fillRect/>
          </a:stretch>
        </p:blipFill>
        <p:spPr>
          <a:xfrm>
            <a:off x="685800" y="621792"/>
            <a:ext cx="841248" cy="841248"/>
          </a:xfrm>
          <a:prstGeom prst="rect">
            <a:avLst/>
          </a:prstGeom>
        </p:spPr>
      </p:pic>
      <p:sp>
        <p:nvSpPr>
          <p:cNvPr id="6" name="Text 3"/>
          <p:cNvSpPr/>
          <p:nvPr/>
        </p:nvSpPr>
        <p:spPr>
          <a:xfrm>
            <a:off x="1700784" y="694944"/>
            <a:ext cx="2377440"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8C98B"/>
                </a:solidFill>
                <a:latin typeface="Arial" pitchFamily="34" charset="0"/>
                <a:ea typeface="Arial" pitchFamily="34" charset="-122"/>
                <a:cs typeface="Arial" pitchFamily="34" charset="-120"/>
              </a:rPr>
              <a:t>FAST RIDE</a:t>
            </a:r>
            <a:endParaRPr lang="en-US" sz="1000" dirty="0"/>
          </a:p>
        </p:txBody>
      </p:sp>
      <p:sp>
        <p:nvSpPr>
          <p:cNvPr id="7" name="Text 4"/>
          <p:cNvSpPr/>
          <p:nvPr/>
        </p:nvSpPr>
        <p:spPr>
          <a:xfrm>
            <a:off x="1700784" y="896112"/>
            <a:ext cx="2377440" cy="20116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FFFFFF"/>
                </a:solidFill>
                <a:latin typeface="Arial" pitchFamily="34" charset="0"/>
                <a:ea typeface="Arial" pitchFamily="34" charset="-122"/>
                <a:cs typeface="Arial" pitchFamily="34" charset="-120"/>
              </a:rPr>
              <a:t>EXPRESS</a:t>
            </a:r>
            <a:endParaRPr lang="en-US" sz="1000" dirty="0"/>
          </a:p>
        </p:txBody>
      </p:sp>
      <p:sp>
        <p:nvSpPr>
          <p:cNvPr id="8" name="Text 5"/>
          <p:cNvSpPr/>
          <p:nvPr/>
        </p:nvSpPr>
        <p:spPr>
          <a:xfrm>
            <a:off x="685800" y="1901952"/>
            <a:ext cx="6858000" cy="1234440"/>
          </a:xfrm>
          <a:prstGeom prst="rect">
            <a:avLst/>
          </a:prstGeom>
          <a:noFill/>
          <a:ln/>
        </p:spPr>
        <p:txBody>
          <a:bodyPr wrap="square" lIns="0" tIns="0" rIns="0" bIns="0" rtlCol="0" anchor="t">
            <a:normAutofit/>
          </a:bodyPr>
          <a:lstStyle/>
          <a:p>
            <a:pPr algn="l" indent="0" marL="0">
              <a:lnSpc>
                <a:spcPct val="100000"/>
              </a:lnSpc>
              <a:buNone/>
            </a:pPr>
            <a:r>
              <a:rPr lang="en-US" sz="3500" b="1" dirty="0">
                <a:solidFill>
                  <a:srgbClr val="FFFFFF"/>
                </a:solidFill>
                <a:latin typeface="Arial" pitchFamily="34" charset="0"/>
                <a:ea typeface="Arial" pitchFamily="34" charset="-122"/>
                <a:cs typeface="Arial" pitchFamily="34" charset="-120"/>
              </a:rPr>
              <a:t>Nền tảng Delivery &amp; Drive</a:t>
            </a:r>
            <a:endParaRPr lang="en-US" sz="3500" dirty="0"/>
          </a:p>
          <a:p>
            <a:pPr algn="l" indent="0" marL="0">
              <a:lnSpc>
                <a:spcPct val="100000"/>
              </a:lnSpc>
              <a:buNone/>
            </a:pPr>
            <a:r>
              <a:rPr lang="en-US" sz="3500" b="1" dirty="0">
                <a:solidFill>
                  <a:srgbClr val="FFFFFF"/>
                </a:solidFill>
                <a:latin typeface="Arial" pitchFamily="34" charset="0"/>
                <a:ea typeface="Arial" pitchFamily="34" charset="-122"/>
                <a:cs typeface="Arial" pitchFamily="34" charset="-120"/>
              </a:rPr>
              <a:t>realtime trên mobile</a:t>
            </a:r>
            <a:endParaRPr lang="en-US" sz="3500" dirty="0"/>
          </a:p>
        </p:txBody>
      </p:sp>
      <p:sp>
        <p:nvSpPr>
          <p:cNvPr id="9" name="Text 6"/>
          <p:cNvSpPr/>
          <p:nvPr/>
        </p:nvSpPr>
        <p:spPr>
          <a:xfrm>
            <a:off x="713232" y="3401568"/>
            <a:ext cx="5303520" cy="256032"/>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B9C9D5"/>
                </a:solidFill>
                <a:latin typeface="Arial" pitchFamily="34" charset="0"/>
                <a:ea typeface="Arial" pitchFamily="34" charset="-122"/>
                <a:cs typeface="Arial" pitchFamily="34" charset="-120"/>
              </a:rPr>
              <a:t>Đồ án tốt nghiệp • Bảo vệ 10–15 phút</a:t>
            </a:r>
            <a:endParaRPr lang="en-US" sz="1500" dirty="0"/>
          </a:p>
        </p:txBody>
      </p:sp>
      <p:sp>
        <p:nvSpPr>
          <p:cNvPr id="10" name="Shape 7"/>
          <p:cNvSpPr/>
          <p:nvPr/>
        </p:nvSpPr>
        <p:spPr>
          <a:xfrm>
            <a:off x="713232" y="3977640"/>
            <a:ext cx="3401568" cy="0"/>
          </a:xfrm>
          <a:prstGeom prst="line">
            <a:avLst/>
          </a:prstGeom>
          <a:noFill/>
          <a:ln w="27940">
            <a:solidFill>
              <a:srgbClr val="18C98B"/>
            </a:solidFill>
            <a:prstDash val="solid"/>
            <a:headEnd type="none"/>
            <a:tailEnd type="none"/>
          </a:ln>
        </p:spPr>
      </p:sp>
      <p:sp>
        <p:nvSpPr>
          <p:cNvPr id="11" name="Text 8"/>
          <p:cNvSpPr/>
          <p:nvPr/>
        </p:nvSpPr>
        <p:spPr>
          <a:xfrm>
            <a:off x="713232" y="4206240"/>
            <a:ext cx="6400800" cy="310896"/>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DDF8EE"/>
                </a:solidFill>
                <a:latin typeface="Arial" pitchFamily="34" charset="0"/>
                <a:ea typeface="Arial" pitchFamily="34" charset="-122"/>
                <a:cs typeface="Arial" pitchFamily="34" charset="-120"/>
              </a:rPr>
              <a:t>Một nền tảng, hai dịch vụ, một nguồn dữ liệu chuẩn.</a:t>
            </a:r>
            <a:endParaRPr lang="en-US" sz="1800" dirty="0"/>
          </a:p>
        </p:txBody>
      </p:sp>
      <p:sp>
        <p:nvSpPr>
          <p:cNvPr id="12" name="Shape 9"/>
          <p:cNvSpPr/>
          <p:nvPr/>
        </p:nvSpPr>
        <p:spPr>
          <a:xfrm>
            <a:off x="713232" y="5166360"/>
            <a:ext cx="1417320" cy="347472"/>
          </a:xfrm>
          <a:prstGeom prst="roundRect">
            <a:avLst>
              <a:gd name="adj" fmla="val 21053"/>
            </a:avLst>
          </a:prstGeom>
          <a:solidFill>
            <a:srgbClr val="18C98B"/>
          </a:solidFill>
          <a:ln w="12700">
            <a:solidFill>
              <a:srgbClr val="18C98B">
                <a:alpha val="0"/>
              </a:srgbClr>
            </a:solidFill>
            <a:prstDash val="solid"/>
          </a:ln>
        </p:spPr>
      </p:sp>
      <p:sp>
        <p:nvSpPr>
          <p:cNvPr id="13" name="Text 10"/>
          <p:cNvSpPr/>
          <p:nvPr/>
        </p:nvSpPr>
        <p:spPr>
          <a:xfrm>
            <a:off x="713232" y="5175504"/>
            <a:ext cx="1417320" cy="329184"/>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0B1B2B"/>
                </a:solidFill>
                <a:latin typeface="Arial" pitchFamily="34" charset="0"/>
                <a:ea typeface="Arial" pitchFamily="34" charset="-122"/>
                <a:cs typeface="Arial" pitchFamily="34" charset="-120"/>
              </a:rPr>
              <a:t>DELIVERY</a:t>
            </a:r>
            <a:endParaRPr lang="en-US" sz="1000" dirty="0"/>
          </a:p>
        </p:txBody>
      </p:sp>
      <p:sp>
        <p:nvSpPr>
          <p:cNvPr id="14" name="Shape 11"/>
          <p:cNvSpPr/>
          <p:nvPr/>
        </p:nvSpPr>
        <p:spPr>
          <a:xfrm>
            <a:off x="2267712" y="5166360"/>
            <a:ext cx="1143000" cy="347472"/>
          </a:xfrm>
          <a:prstGeom prst="roundRect">
            <a:avLst>
              <a:gd name="adj" fmla="val 21053"/>
            </a:avLst>
          </a:prstGeom>
          <a:solidFill>
            <a:srgbClr val="F4B942"/>
          </a:solidFill>
          <a:ln w="12700">
            <a:solidFill>
              <a:srgbClr val="F4B942">
                <a:alpha val="0"/>
              </a:srgbClr>
            </a:solidFill>
            <a:prstDash val="solid"/>
          </a:ln>
        </p:spPr>
      </p:sp>
      <p:sp>
        <p:nvSpPr>
          <p:cNvPr id="15" name="Text 12"/>
          <p:cNvSpPr/>
          <p:nvPr/>
        </p:nvSpPr>
        <p:spPr>
          <a:xfrm>
            <a:off x="2267712" y="5175504"/>
            <a:ext cx="1143000" cy="329184"/>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0B1B2B"/>
                </a:solidFill>
                <a:latin typeface="Arial" pitchFamily="34" charset="0"/>
                <a:ea typeface="Arial" pitchFamily="34" charset="-122"/>
                <a:cs typeface="Arial" pitchFamily="34" charset="-120"/>
              </a:rPr>
              <a:t>DRIVE</a:t>
            </a:r>
            <a:endParaRPr lang="en-US" sz="1000" dirty="0"/>
          </a:p>
        </p:txBody>
      </p:sp>
      <p:sp>
        <p:nvSpPr>
          <p:cNvPr id="16" name="Shape 13"/>
          <p:cNvSpPr/>
          <p:nvPr/>
        </p:nvSpPr>
        <p:spPr>
          <a:xfrm>
            <a:off x="3584448" y="5166360"/>
            <a:ext cx="2423160" cy="347472"/>
          </a:xfrm>
          <a:prstGeom prst="roundRect">
            <a:avLst>
              <a:gd name="adj" fmla="val 21053"/>
            </a:avLst>
          </a:prstGeom>
          <a:solidFill>
            <a:srgbClr val="13283B"/>
          </a:solidFill>
          <a:ln w="12700">
            <a:solidFill>
              <a:srgbClr val="13283B">
                <a:alpha val="0"/>
              </a:srgbClr>
            </a:solidFill>
            <a:prstDash val="solid"/>
          </a:ln>
        </p:spPr>
      </p:sp>
      <p:sp>
        <p:nvSpPr>
          <p:cNvPr id="17" name="Text 14"/>
          <p:cNvSpPr/>
          <p:nvPr/>
        </p:nvSpPr>
        <p:spPr>
          <a:xfrm>
            <a:off x="3584448" y="5175504"/>
            <a:ext cx="2423160" cy="329184"/>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DDF8EE"/>
                </a:solidFill>
                <a:latin typeface="Arial" pitchFamily="34" charset="0"/>
                <a:ea typeface="Arial" pitchFamily="34" charset="-122"/>
                <a:cs typeface="Arial" pitchFamily="34" charset="-120"/>
              </a:rPr>
              <a:t>FLUTTER • LARAVEL • NODE.JS</a:t>
            </a:r>
            <a:endParaRPr lang="en-US" sz="900" dirty="0"/>
          </a:p>
        </p:txBody>
      </p:sp>
      <p:sp>
        <p:nvSpPr>
          <p:cNvPr id="18" name="Text 15"/>
          <p:cNvSpPr/>
          <p:nvPr/>
        </p:nvSpPr>
        <p:spPr>
          <a:xfrm>
            <a:off x="10927080" y="6144768"/>
            <a:ext cx="640080" cy="228600"/>
          </a:xfrm>
          <a:prstGeom prst="rect">
            <a:avLst/>
          </a:prstGeom>
          <a:noFill/>
          <a:ln/>
        </p:spPr>
        <p:txBody>
          <a:bodyPr wrap="square" lIns="0" tIns="0" rIns="0" bIns="0" rtlCol="0" anchor="ctr">
            <a:normAutofit/>
          </a:bodyPr>
          <a:lstStyle/>
          <a:p>
            <a:pPr algn="r" indent="0" marL="0">
              <a:lnSpc>
                <a:spcPct val="100000"/>
              </a:lnSpc>
              <a:buNone/>
            </a:pPr>
            <a:r>
              <a:rPr lang="en-US" sz="1100" dirty="0">
                <a:solidFill>
                  <a:srgbClr val="B9C9D5"/>
                </a:solidFill>
                <a:latin typeface="Arial" pitchFamily="34" charset="0"/>
                <a:ea typeface="Arial" pitchFamily="34" charset="-122"/>
                <a:cs typeface="Arial" pitchFamily="34" charset="-120"/>
              </a:rPr>
              <a:t>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01 • BÀI TOÁN</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Từ nhu cầu di chuyển đến một hệ thống thống nhất</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Tách trải nghiệm theo vai trò, nhưng giữ nghiệp vụ nhất quán ở backend.</a:t>
            </a:r>
            <a:endParaRPr lang="en-US" sz="1200" dirty="0"/>
          </a:p>
        </p:txBody>
      </p:sp>
      <p:sp>
        <p:nvSpPr>
          <p:cNvPr id="5" name="Shape 3"/>
          <p:cNvSpPr/>
          <p:nvPr/>
        </p:nvSpPr>
        <p:spPr>
          <a:xfrm>
            <a:off x="566928" y="1828800"/>
            <a:ext cx="5321808" cy="3200400"/>
          </a:xfrm>
          <a:prstGeom prst="roundRect">
            <a:avLst>
              <a:gd name="adj" fmla="val 2286"/>
            </a:avLst>
          </a:prstGeom>
          <a:solidFill>
            <a:srgbClr val="FFFFFF"/>
          </a:solidFill>
          <a:ln w="8890">
            <a:solidFill>
              <a:srgbClr val="D9E2E8"/>
            </a:solidFill>
            <a:prstDash val="solid"/>
          </a:ln>
        </p:spPr>
      </p:sp>
      <p:sp>
        <p:nvSpPr>
          <p:cNvPr id="6" name="Shape 4"/>
          <p:cNvSpPr/>
          <p:nvPr/>
        </p:nvSpPr>
        <p:spPr>
          <a:xfrm>
            <a:off x="841248" y="2139696"/>
            <a:ext cx="530352" cy="530352"/>
          </a:xfrm>
          <a:prstGeom prst="ellipse">
            <a:avLst/>
          </a:prstGeom>
          <a:solidFill>
            <a:srgbClr val="DDF8EE"/>
          </a:solidFill>
          <a:ln w="12700">
            <a:solidFill>
              <a:srgbClr val="DDF8EE">
                <a:alpha val="0"/>
              </a:srgbClr>
            </a:solidFill>
            <a:prstDash val="solid"/>
          </a:ln>
        </p:spPr>
      </p:sp>
      <p:sp>
        <p:nvSpPr>
          <p:cNvPr id="7" name="Text 5"/>
          <p:cNvSpPr/>
          <p:nvPr/>
        </p:nvSpPr>
        <p:spPr>
          <a:xfrm>
            <a:off x="841248" y="2148840"/>
            <a:ext cx="530352" cy="512064"/>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006B57"/>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1517904" y="2066544"/>
            <a:ext cx="2286000" cy="27432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0B1B2B"/>
                </a:solidFill>
                <a:latin typeface="Arial" pitchFamily="34" charset="0"/>
                <a:ea typeface="Arial" pitchFamily="34" charset="-122"/>
                <a:cs typeface="Arial" pitchFamily="34" charset="-120"/>
              </a:rPr>
              <a:t>Delivery</a:t>
            </a:r>
            <a:endParaRPr lang="en-US" sz="2100" dirty="0"/>
          </a:p>
        </p:txBody>
      </p:sp>
      <p:sp>
        <p:nvSpPr>
          <p:cNvPr id="9" name="Text 7"/>
          <p:cNvSpPr/>
          <p:nvPr/>
        </p:nvSpPr>
        <p:spPr>
          <a:xfrm>
            <a:off x="1517904" y="2414016"/>
            <a:ext cx="2743200" cy="219456"/>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Giao hàng nội thành</a:t>
            </a:r>
            <a:endParaRPr lang="en-US" sz="1100" dirty="0"/>
          </a:p>
        </p:txBody>
      </p:sp>
      <p:sp>
        <p:nvSpPr>
          <p:cNvPr id="10" name="Text 8"/>
          <p:cNvSpPr/>
          <p:nvPr/>
        </p:nvSpPr>
        <p:spPr>
          <a:xfrm>
            <a:off x="877824" y="2944368"/>
            <a:ext cx="4434840" cy="512064"/>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42333"/>
                </a:solidFill>
                <a:latin typeface="Arial" pitchFamily="34" charset="0"/>
                <a:ea typeface="Arial" pitchFamily="34" charset="-122"/>
                <a:cs typeface="Arial" pitchFamily="34" charset="-120"/>
              </a:rPr>
              <a:t>Báo giá → ghép tài xế → lấy hàng → giao / hoàn</a:t>
            </a:r>
            <a:endParaRPr lang="en-US" sz="1500" dirty="0"/>
          </a:p>
        </p:txBody>
      </p:sp>
      <p:sp>
        <p:nvSpPr>
          <p:cNvPr id="11" name="Shape 9"/>
          <p:cNvSpPr/>
          <p:nvPr/>
        </p:nvSpPr>
        <p:spPr>
          <a:xfrm>
            <a:off x="877824" y="3822192"/>
            <a:ext cx="1691640" cy="283464"/>
          </a:xfrm>
          <a:prstGeom prst="roundRect">
            <a:avLst>
              <a:gd name="adj" fmla="val 25806"/>
            </a:avLst>
          </a:prstGeom>
          <a:solidFill>
            <a:srgbClr val="DDF8EE"/>
          </a:solidFill>
          <a:ln w="12700">
            <a:solidFill>
              <a:srgbClr val="DDF8EE">
                <a:alpha val="0"/>
              </a:srgbClr>
            </a:solidFill>
            <a:prstDash val="solid"/>
          </a:ln>
        </p:spPr>
      </p:sp>
      <p:sp>
        <p:nvSpPr>
          <p:cNvPr id="12" name="Text 10"/>
          <p:cNvSpPr/>
          <p:nvPr/>
        </p:nvSpPr>
        <p:spPr>
          <a:xfrm>
            <a:off x="877824" y="3831336"/>
            <a:ext cx="1691640" cy="26517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006B57"/>
                </a:solidFill>
                <a:latin typeface="Arial" pitchFamily="34" charset="0"/>
                <a:ea typeface="Arial" pitchFamily="34" charset="-122"/>
                <a:cs typeface="Arial" pitchFamily="34" charset="-120"/>
              </a:rPr>
              <a:t>PROOF OF DELIVERY</a:t>
            </a:r>
            <a:endParaRPr lang="en-US" sz="850" dirty="0"/>
          </a:p>
        </p:txBody>
      </p:sp>
      <p:sp>
        <p:nvSpPr>
          <p:cNvPr id="13" name="Shape 11"/>
          <p:cNvSpPr/>
          <p:nvPr/>
        </p:nvSpPr>
        <p:spPr>
          <a:xfrm>
            <a:off x="2697480" y="3822192"/>
            <a:ext cx="1325880" cy="283464"/>
          </a:xfrm>
          <a:prstGeom prst="roundRect">
            <a:avLst>
              <a:gd name="adj" fmla="val 25806"/>
            </a:avLst>
          </a:prstGeom>
          <a:solidFill>
            <a:srgbClr val="FFF2CF"/>
          </a:solidFill>
          <a:ln w="12700">
            <a:solidFill>
              <a:srgbClr val="FFF2CF">
                <a:alpha val="0"/>
              </a:srgbClr>
            </a:solidFill>
            <a:prstDash val="solid"/>
          </a:ln>
        </p:spPr>
      </p:sp>
      <p:sp>
        <p:nvSpPr>
          <p:cNvPr id="14" name="Text 12"/>
          <p:cNvSpPr/>
          <p:nvPr/>
        </p:nvSpPr>
        <p:spPr>
          <a:xfrm>
            <a:off x="2697480" y="3831336"/>
            <a:ext cx="1325880" cy="26517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8B5A00"/>
                </a:solidFill>
                <a:latin typeface="Arial" pitchFamily="34" charset="0"/>
                <a:ea typeface="Arial" pitchFamily="34" charset="-122"/>
                <a:cs typeface="Arial" pitchFamily="34" charset="-120"/>
              </a:rPr>
              <a:t>COD / WALLET</a:t>
            </a:r>
            <a:endParaRPr lang="en-US" sz="850" dirty="0"/>
          </a:p>
        </p:txBody>
      </p:sp>
      <p:sp>
        <p:nvSpPr>
          <p:cNvPr id="15" name="Text 13"/>
          <p:cNvSpPr/>
          <p:nvPr/>
        </p:nvSpPr>
        <p:spPr>
          <a:xfrm>
            <a:off x="877824" y="4416552"/>
            <a:ext cx="4480560" cy="22860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617180"/>
                </a:solidFill>
                <a:latin typeface="Arial" pitchFamily="34" charset="0"/>
                <a:ea typeface="Arial" pitchFamily="34" charset="-122"/>
                <a:cs typeface="Arial" pitchFamily="34" charset="-120"/>
              </a:rPr>
              <a:t>Một điểm lấy • một điểm giao • có nhánh hoàn hàng</a:t>
            </a:r>
            <a:endParaRPr lang="en-US" sz="1050" dirty="0"/>
          </a:p>
        </p:txBody>
      </p:sp>
      <p:sp>
        <p:nvSpPr>
          <p:cNvPr id="16" name="Shape 14"/>
          <p:cNvSpPr/>
          <p:nvPr/>
        </p:nvSpPr>
        <p:spPr>
          <a:xfrm>
            <a:off x="6236208" y="1828800"/>
            <a:ext cx="5340096" cy="3200400"/>
          </a:xfrm>
          <a:prstGeom prst="roundRect">
            <a:avLst>
              <a:gd name="adj" fmla="val 2286"/>
            </a:avLst>
          </a:prstGeom>
          <a:solidFill>
            <a:srgbClr val="0B1B2B"/>
          </a:solidFill>
          <a:ln w="8890">
            <a:solidFill>
              <a:srgbClr val="0B1B2B"/>
            </a:solidFill>
            <a:prstDash val="solid"/>
          </a:ln>
        </p:spPr>
      </p:sp>
      <p:sp>
        <p:nvSpPr>
          <p:cNvPr id="17" name="Shape 15"/>
          <p:cNvSpPr/>
          <p:nvPr/>
        </p:nvSpPr>
        <p:spPr>
          <a:xfrm>
            <a:off x="6510528" y="2139696"/>
            <a:ext cx="530352" cy="530352"/>
          </a:xfrm>
          <a:prstGeom prst="ellipse">
            <a:avLst/>
          </a:prstGeom>
          <a:solidFill>
            <a:srgbClr val="FFF2CF"/>
          </a:solidFill>
          <a:ln w="12700">
            <a:solidFill>
              <a:srgbClr val="FFF2CF">
                <a:alpha val="0"/>
              </a:srgbClr>
            </a:solidFill>
            <a:prstDash val="solid"/>
          </a:ln>
        </p:spPr>
      </p:sp>
      <p:sp>
        <p:nvSpPr>
          <p:cNvPr id="18" name="Text 16"/>
          <p:cNvSpPr/>
          <p:nvPr/>
        </p:nvSpPr>
        <p:spPr>
          <a:xfrm>
            <a:off x="6510528" y="2148840"/>
            <a:ext cx="530352" cy="512064"/>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8B5A00"/>
                </a:solidFill>
                <a:latin typeface="Arial" pitchFamily="34" charset="0"/>
                <a:ea typeface="Arial" pitchFamily="34" charset="-122"/>
                <a:cs typeface="Arial" pitchFamily="34" charset="-120"/>
              </a:rPr>
              <a:t>⌖</a:t>
            </a:r>
            <a:endParaRPr lang="en-US" sz="1900" dirty="0"/>
          </a:p>
        </p:txBody>
      </p:sp>
      <p:sp>
        <p:nvSpPr>
          <p:cNvPr id="19" name="Text 17"/>
          <p:cNvSpPr/>
          <p:nvPr/>
        </p:nvSpPr>
        <p:spPr>
          <a:xfrm>
            <a:off x="7187184" y="2066544"/>
            <a:ext cx="2011680" cy="274320"/>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FFFFFF"/>
                </a:solidFill>
                <a:latin typeface="Arial" pitchFamily="34" charset="0"/>
                <a:ea typeface="Arial" pitchFamily="34" charset="-122"/>
                <a:cs typeface="Arial" pitchFamily="34" charset="-120"/>
              </a:rPr>
              <a:t>Drive</a:t>
            </a:r>
            <a:endParaRPr lang="en-US" sz="2100" dirty="0"/>
          </a:p>
        </p:txBody>
      </p:sp>
      <p:sp>
        <p:nvSpPr>
          <p:cNvPr id="20" name="Text 18"/>
          <p:cNvSpPr/>
          <p:nvPr/>
        </p:nvSpPr>
        <p:spPr>
          <a:xfrm>
            <a:off x="7187184" y="2414016"/>
            <a:ext cx="2926080" cy="219456"/>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B9C9D5"/>
                </a:solidFill>
                <a:latin typeface="Arial" pitchFamily="34" charset="0"/>
                <a:ea typeface="Arial" pitchFamily="34" charset="-122"/>
                <a:cs typeface="Arial" pitchFamily="34" charset="-120"/>
              </a:rPr>
              <a:t>Chở khách theo chuyến</a:t>
            </a:r>
            <a:endParaRPr lang="en-US" sz="1100" dirty="0"/>
          </a:p>
        </p:txBody>
      </p:sp>
      <p:sp>
        <p:nvSpPr>
          <p:cNvPr id="21" name="Text 19"/>
          <p:cNvSpPr/>
          <p:nvPr/>
        </p:nvSpPr>
        <p:spPr>
          <a:xfrm>
            <a:off x="6547104" y="2944368"/>
            <a:ext cx="4526280" cy="512064"/>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FFFFFF"/>
                </a:solidFill>
                <a:latin typeface="Arial" pitchFamily="34" charset="0"/>
                <a:ea typeface="Arial" pitchFamily="34" charset="-122"/>
                <a:cs typeface="Arial" pitchFamily="34" charset="-120"/>
              </a:rPr>
              <a:t>Báo giá → ghép tài xế → đón khách → hoàn tất</a:t>
            </a:r>
            <a:endParaRPr lang="en-US" sz="1500" dirty="0"/>
          </a:p>
        </p:txBody>
      </p:sp>
      <p:sp>
        <p:nvSpPr>
          <p:cNvPr id="22" name="Shape 20"/>
          <p:cNvSpPr/>
          <p:nvPr/>
        </p:nvSpPr>
        <p:spPr>
          <a:xfrm>
            <a:off x="6547104" y="3822192"/>
            <a:ext cx="1298448" cy="283464"/>
          </a:xfrm>
          <a:prstGeom prst="roundRect">
            <a:avLst>
              <a:gd name="adj" fmla="val 25806"/>
            </a:avLst>
          </a:prstGeom>
          <a:solidFill>
            <a:srgbClr val="18C98B"/>
          </a:solidFill>
          <a:ln w="12700">
            <a:solidFill>
              <a:srgbClr val="18C98B">
                <a:alpha val="0"/>
              </a:srgbClr>
            </a:solidFill>
            <a:prstDash val="solid"/>
          </a:ln>
        </p:spPr>
      </p:sp>
      <p:sp>
        <p:nvSpPr>
          <p:cNvPr id="23" name="Text 21"/>
          <p:cNvSpPr/>
          <p:nvPr/>
        </p:nvSpPr>
        <p:spPr>
          <a:xfrm>
            <a:off x="6547104" y="3831336"/>
            <a:ext cx="1298448" cy="26517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0B1B2B"/>
                </a:solidFill>
                <a:latin typeface="Arial" pitchFamily="34" charset="0"/>
                <a:ea typeface="Arial" pitchFamily="34" charset="-122"/>
                <a:cs typeface="Arial" pitchFamily="34" charset="-120"/>
              </a:rPr>
              <a:t>ETA REALTIME</a:t>
            </a:r>
            <a:endParaRPr lang="en-US" sz="850" dirty="0"/>
          </a:p>
        </p:txBody>
      </p:sp>
      <p:sp>
        <p:nvSpPr>
          <p:cNvPr id="24" name="Shape 22"/>
          <p:cNvSpPr/>
          <p:nvPr/>
        </p:nvSpPr>
        <p:spPr>
          <a:xfrm>
            <a:off x="8001000" y="3822192"/>
            <a:ext cx="1143000" cy="283464"/>
          </a:xfrm>
          <a:prstGeom prst="roundRect">
            <a:avLst>
              <a:gd name="adj" fmla="val 25806"/>
            </a:avLst>
          </a:prstGeom>
          <a:solidFill>
            <a:srgbClr val="FFE4DE"/>
          </a:solidFill>
          <a:ln w="12700">
            <a:solidFill>
              <a:srgbClr val="FFE4DE">
                <a:alpha val="0"/>
              </a:srgbClr>
            </a:solidFill>
            <a:prstDash val="solid"/>
          </a:ln>
        </p:spPr>
      </p:sp>
      <p:sp>
        <p:nvSpPr>
          <p:cNvPr id="25" name="Text 23"/>
          <p:cNvSpPr/>
          <p:nvPr/>
        </p:nvSpPr>
        <p:spPr>
          <a:xfrm>
            <a:off x="8001000" y="3831336"/>
            <a:ext cx="1143000" cy="26517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8D3328"/>
                </a:solidFill>
                <a:latin typeface="Arial" pitchFamily="34" charset="0"/>
                <a:ea typeface="Arial" pitchFamily="34" charset="-122"/>
                <a:cs typeface="Arial" pitchFamily="34" charset="-120"/>
              </a:rPr>
              <a:t>SOS / CHAT</a:t>
            </a:r>
            <a:endParaRPr lang="en-US" sz="850" dirty="0"/>
          </a:p>
        </p:txBody>
      </p:sp>
      <p:sp>
        <p:nvSpPr>
          <p:cNvPr id="26" name="Text 24"/>
          <p:cNvSpPr/>
          <p:nvPr/>
        </p:nvSpPr>
        <p:spPr>
          <a:xfrm>
            <a:off x="6547104" y="4416552"/>
            <a:ext cx="4480560" cy="22860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B9C9D5"/>
                </a:solidFill>
                <a:latin typeface="Arial" pitchFamily="34" charset="0"/>
                <a:ea typeface="Arial" pitchFamily="34" charset="-122"/>
                <a:cs typeface="Arial" pitchFamily="34" charset="-120"/>
              </a:rPr>
              <a:t>Một điểm đón • một điểm đến • không bỏ qua state</a:t>
            </a:r>
            <a:endParaRPr lang="en-US" sz="1050" dirty="0"/>
          </a:p>
        </p:txBody>
      </p:sp>
      <p:sp>
        <p:nvSpPr>
          <p:cNvPr id="27" name="Shape 25"/>
          <p:cNvSpPr/>
          <p:nvPr/>
        </p:nvSpPr>
        <p:spPr>
          <a:xfrm>
            <a:off x="566928" y="5358384"/>
            <a:ext cx="11009376" cy="658368"/>
          </a:xfrm>
          <a:prstGeom prst="roundRect">
            <a:avLst>
              <a:gd name="adj" fmla="val 11111"/>
            </a:avLst>
          </a:prstGeom>
          <a:solidFill>
            <a:srgbClr val="DDF8EE"/>
          </a:solidFill>
          <a:ln w="12700">
            <a:solidFill>
              <a:srgbClr val="DDF8EE">
                <a:alpha val="0"/>
              </a:srgbClr>
            </a:solidFill>
            <a:prstDash val="solid"/>
          </a:ln>
        </p:spPr>
      </p:sp>
      <p:sp>
        <p:nvSpPr>
          <p:cNvPr id="28" name="Text 26"/>
          <p:cNvSpPr/>
          <p:nvPr/>
        </p:nvSpPr>
        <p:spPr>
          <a:xfrm>
            <a:off x="841248" y="5532120"/>
            <a:ext cx="1417320" cy="18288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06B57"/>
                </a:solidFill>
                <a:latin typeface="Arial" pitchFamily="34" charset="0"/>
                <a:ea typeface="Arial" pitchFamily="34" charset="-122"/>
                <a:cs typeface="Arial" pitchFamily="34" charset="-120"/>
              </a:rPr>
              <a:t>Mục tiêu thiết kế</a:t>
            </a:r>
            <a:endParaRPr lang="en-US" sz="1000" dirty="0"/>
          </a:p>
        </p:txBody>
      </p:sp>
      <p:sp>
        <p:nvSpPr>
          <p:cNvPr id="29" name="Text 27"/>
          <p:cNvSpPr/>
          <p:nvPr/>
        </p:nvSpPr>
        <p:spPr>
          <a:xfrm>
            <a:off x="2240280" y="5495544"/>
            <a:ext cx="8942832" cy="256032"/>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0B1B2B"/>
                </a:solidFill>
                <a:latin typeface="Arial" pitchFamily="34" charset="0"/>
                <a:ea typeface="Arial" pitchFamily="34" charset="-122"/>
                <a:cs typeface="Arial" pitchFamily="34" charset="-120"/>
              </a:rPr>
              <a:t>Hai app riêng theo vai trò • một API nghiệp vụ • realtime có kiểm soát • tài chính có sổ cái</a:t>
            </a:r>
            <a:endParaRPr lang="en-US" sz="1400" dirty="0"/>
          </a:p>
        </p:txBody>
      </p:sp>
      <p:sp>
        <p:nvSpPr>
          <p:cNvPr id="30" name="Shape 28"/>
          <p:cNvSpPr/>
          <p:nvPr/>
        </p:nvSpPr>
        <p:spPr>
          <a:xfrm>
            <a:off x="502920" y="6419088"/>
            <a:ext cx="11155680" cy="0"/>
          </a:xfrm>
          <a:prstGeom prst="line">
            <a:avLst/>
          </a:prstGeom>
          <a:noFill/>
          <a:ln w="8255">
            <a:solidFill>
              <a:srgbClr val="D9E2E8"/>
            </a:solidFill>
            <a:prstDash val="solid"/>
            <a:headEnd type="none"/>
            <a:tailEnd type="none"/>
          </a:ln>
        </p:spPr>
      </p:sp>
      <p:sp>
        <p:nvSpPr>
          <p:cNvPr id="31" name="Text 29"/>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docs/00-tong-quan.md</a:t>
            </a:r>
            <a:endParaRPr lang="en-US" sz="750" dirty="0"/>
          </a:p>
        </p:txBody>
      </p:sp>
      <p:sp>
        <p:nvSpPr>
          <p:cNvPr id="32" name="Text 30"/>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02</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02 • PHẠM VI</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Bốn nhóm tác nhân, một vòng đời dịch vụ</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Mỗi vai trò có UI riêng; quyền và transition luôn do server quyết định.</a:t>
            </a:r>
            <a:endParaRPr lang="en-US" sz="1200" dirty="0"/>
          </a:p>
        </p:txBody>
      </p:sp>
      <p:sp>
        <p:nvSpPr>
          <p:cNvPr id="5" name="Shape 3"/>
          <p:cNvSpPr/>
          <p:nvPr/>
        </p:nvSpPr>
        <p:spPr>
          <a:xfrm>
            <a:off x="566928" y="1874520"/>
            <a:ext cx="2432304" cy="2514600"/>
          </a:xfrm>
          <a:prstGeom prst="roundRect">
            <a:avLst>
              <a:gd name="adj" fmla="val 3008"/>
            </a:avLst>
          </a:prstGeom>
          <a:solidFill>
            <a:srgbClr val="FFFFFF"/>
          </a:solidFill>
          <a:ln w="8890">
            <a:solidFill>
              <a:srgbClr val="D9E2E8"/>
            </a:solidFill>
            <a:prstDash val="solid"/>
          </a:ln>
        </p:spPr>
      </p:sp>
      <p:sp>
        <p:nvSpPr>
          <p:cNvPr id="6" name="Shape 4"/>
          <p:cNvSpPr/>
          <p:nvPr/>
        </p:nvSpPr>
        <p:spPr>
          <a:xfrm>
            <a:off x="795528" y="2121408"/>
            <a:ext cx="502920" cy="502920"/>
          </a:xfrm>
          <a:prstGeom prst="ellipse">
            <a:avLst/>
          </a:prstGeom>
          <a:solidFill>
            <a:srgbClr val="E7F0FF"/>
          </a:solidFill>
          <a:ln w="12700">
            <a:solidFill>
              <a:srgbClr val="E7F0FF">
                <a:alpha val="0"/>
              </a:srgbClr>
            </a:solidFill>
            <a:prstDash val="solid"/>
          </a:ln>
        </p:spPr>
      </p:sp>
      <p:sp>
        <p:nvSpPr>
          <p:cNvPr id="7" name="Text 5"/>
          <p:cNvSpPr/>
          <p:nvPr/>
        </p:nvSpPr>
        <p:spPr>
          <a:xfrm>
            <a:off x="795528" y="2139696"/>
            <a:ext cx="502920" cy="43891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4F86D9"/>
                </a:solidFill>
                <a:latin typeface="Arial" pitchFamily="34" charset="0"/>
                <a:ea typeface="Arial" pitchFamily="34" charset="-122"/>
                <a:cs typeface="Arial" pitchFamily="34" charset="-120"/>
              </a:rPr>
              <a:t>KH</a:t>
            </a:r>
            <a:endParaRPr lang="en-US" sz="1000" dirty="0"/>
          </a:p>
        </p:txBody>
      </p:sp>
      <p:sp>
        <p:nvSpPr>
          <p:cNvPr id="8" name="Text 6"/>
          <p:cNvSpPr/>
          <p:nvPr/>
        </p:nvSpPr>
        <p:spPr>
          <a:xfrm>
            <a:off x="795528" y="2807208"/>
            <a:ext cx="196596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0B1B2B"/>
                </a:solidFill>
                <a:latin typeface="Arial" pitchFamily="34" charset="0"/>
                <a:ea typeface="Arial" pitchFamily="34" charset="-122"/>
                <a:cs typeface="Arial" pitchFamily="34" charset="-120"/>
              </a:rPr>
              <a:t>Khách hàng</a:t>
            </a:r>
            <a:endParaRPr lang="en-US" sz="1500" dirty="0"/>
          </a:p>
        </p:txBody>
      </p:sp>
      <p:sp>
        <p:nvSpPr>
          <p:cNvPr id="9" name="Text 7"/>
          <p:cNvSpPr/>
          <p:nvPr/>
        </p:nvSpPr>
        <p:spPr>
          <a:xfrm>
            <a:off x="795528" y="3273552"/>
            <a:ext cx="1965960" cy="84124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Tạo yêu cầu</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Theo dõi • thanh toán</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Hủy • đánh giá • hỗ trợ</a:t>
            </a:r>
            <a:endParaRPr lang="en-US" sz="1100" dirty="0"/>
          </a:p>
        </p:txBody>
      </p:sp>
      <p:sp>
        <p:nvSpPr>
          <p:cNvPr id="10" name="Shape 8"/>
          <p:cNvSpPr/>
          <p:nvPr/>
        </p:nvSpPr>
        <p:spPr>
          <a:xfrm>
            <a:off x="3438144" y="1874520"/>
            <a:ext cx="2432304" cy="2514600"/>
          </a:xfrm>
          <a:prstGeom prst="roundRect">
            <a:avLst>
              <a:gd name="adj" fmla="val 3008"/>
            </a:avLst>
          </a:prstGeom>
          <a:solidFill>
            <a:srgbClr val="FFFFFF"/>
          </a:solidFill>
          <a:ln w="8890">
            <a:solidFill>
              <a:srgbClr val="D9E2E8"/>
            </a:solidFill>
            <a:prstDash val="solid"/>
          </a:ln>
        </p:spPr>
      </p:sp>
      <p:sp>
        <p:nvSpPr>
          <p:cNvPr id="11" name="Shape 9"/>
          <p:cNvSpPr/>
          <p:nvPr/>
        </p:nvSpPr>
        <p:spPr>
          <a:xfrm>
            <a:off x="3666744" y="2121408"/>
            <a:ext cx="502920" cy="502920"/>
          </a:xfrm>
          <a:prstGeom prst="ellipse">
            <a:avLst/>
          </a:prstGeom>
          <a:solidFill>
            <a:srgbClr val="DDF8EE"/>
          </a:solidFill>
          <a:ln w="12700">
            <a:solidFill>
              <a:srgbClr val="DDF8EE">
                <a:alpha val="0"/>
              </a:srgbClr>
            </a:solidFill>
            <a:prstDash val="solid"/>
          </a:ln>
        </p:spPr>
      </p:sp>
      <p:sp>
        <p:nvSpPr>
          <p:cNvPr id="12" name="Text 10"/>
          <p:cNvSpPr/>
          <p:nvPr/>
        </p:nvSpPr>
        <p:spPr>
          <a:xfrm>
            <a:off x="3666744" y="2139696"/>
            <a:ext cx="502920" cy="43891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006B57"/>
                </a:solidFill>
                <a:latin typeface="Arial" pitchFamily="34" charset="0"/>
                <a:ea typeface="Arial" pitchFamily="34" charset="-122"/>
                <a:cs typeface="Arial" pitchFamily="34" charset="-120"/>
              </a:rPr>
              <a:t>TX</a:t>
            </a:r>
            <a:endParaRPr lang="en-US" sz="1000" dirty="0"/>
          </a:p>
        </p:txBody>
      </p:sp>
      <p:sp>
        <p:nvSpPr>
          <p:cNvPr id="13" name="Text 11"/>
          <p:cNvSpPr/>
          <p:nvPr/>
        </p:nvSpPr>
        <p:spPr>
          <a:xfrm>
            <a:off x="3666744" y="2807208"/>
            <a:ext cx="196596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0B1B2B"/>
                </a:solidFill>
                <a:latin typeface="Arial" pitchFamily="34" charset="0"/>
                <a:ea typeface="Arial" pitchFamily="34" charset="-122"/>
                <a:cs typeface="Arial" pitchFamily="34" charset="-120"/>
              </a:rPr>
              <a:t>Tài xế</a:t>
            </a:r>
            <a:endParaRPr lang="en-US" sz="1500" dirty="0"/>
          </a:p>
        </p:txBody>
      </p:sp>
      <p:sp>
        <p:nvSpPr>
          <p:cNvPr id="14" name="Text 12"/>
          <p:cNvSpPr/>
          <p:nvPr/>
        </p:nvSpPr>
        <p:spPr>
          <a:xfrm>
            <a:off x="3666744" y="3273552"/>
            <a:ext cx="1965960" cy="84124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KYC • online</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Nhận offer • thực hiện</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Thu tiền • rút ví</a:t>
            </a:r>
            <a:endParaRPr lang="en-US" sz="1100" dirty="0"/>
          </a:p>
        </p:txBody>
      </p:sp>
      <p:sp>
        <p:nvSpPr>
          <p:cNvPr id="15" name="Shape 13"/>
          <p:cNvSpPr/>
          <p:nvPr/>
        </p:nvSpPr>
        <p:spPr>
          <a:xfrm>
            <a:off x="6309360" y="1874520"/>
            <a:ext cx="2432304" cy="2514600"/>
          </a:xfrm>
          <a:prstGeom prst="roundRect">
            <a:avLst>
              <a:gd name="adj" fmla="val 3008"/>
            </a:avLst>
          </a:prstGeom>
          <a:solidFill>
            <a:srgbClr val="FFFFFF"/>
          </a:solidFill>
          <a:ln w="8890">
            <a:solidFill>
              <a:srgbClr val="D9E2E8"/>
            </a:solidFill>
            <a:prstDash val="solid"/>
          </a:ln>
        </p:spPr>
      </p:sp>
      <p:sp>
        <p:nvSpPr>
          <p:cNvPr id="16" name="Shape 14"/>
          <p:cNvSpPr/>
          <p:nvPr/>
        </p:nvSpPr>
        <p:spPr>
          <a:xfrm>
            <a:off x="6537960" y="2121408"/>
            <a:ext cx="502920" cy="502920"/>
          </a:xfrm>
          <a:prstGeom prst="ellipse">
            <a:avLst/>
          </a:prstGeom>
          <a:solidFill>
            <a:srgbClr val="FFF2CF"/>
          </a:solidFill>
          <a:ln w="12700">
            <a:solidFill>
              <a:srgbClr val="FFF2CF">
                <a:alpha val="0"/>
              </a:srgbClr>
            </a:solidFill>
            <a:prstDash val="solid"/>
          </a:ln>
        </p:spPr>
      </p:sp>
      <p:sp>
        <p:nvSpPr>
          <p:cNvPr id="17" name="Text 15"/>
          <p:cNvSpPr/>
          <p:nvPr/>
        </p:nvSpPr>
        <p:spPr>
          <a:xfrm>
            <a:off x="6537960" y="2139696"/>
            <a:ext cx="502920" cy="43891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9A6400"/>
                </a:solidFill>
                <a:latin typeface="Arial" pitchFamily="34" charset="0"/>
                <a:ea typeface="Arial" pitchFamily="34" charset="-122"/>
                <a:cs typeface="Arial" pitchFamily="34" charset="-120"/>
              </a:rPr>
              <a:t>AD</a:t>
            </a:r>
            <a:endParaRPr lang="en-US" sz="1000" dirty="0"/>
          </a:p>
        </p:txBody>
      </p:sp>
      <p:sp>
        <p:nvSpPr>
          <p:cNvPr id="18" name="Text 16"/>
          <p:cNvSpPr/>
          <p:nvPr/>
        </p:nvSpPr>
        <p:spPr>
          <a:xfrm>
            <a:off x="6537960" y="2807208"/>
            <a:ext cx="196596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0B1B2B"/>
                </a:solidFill>
                <a:latin typeface="Arial" pitchFamily="34" charset="0"/>
                <a:ea typeface="Arial" pitchFamily="34" charset="-122"/>
                <a:cs typeface="Arial" pitchFamily="34" charset="-120"/>
              </a:rPr>
              <a:t>Admin / điều phối</a:t>
            </a:r>
            <a:endParaRPr lang="en-US" sz="1500" dirty="0"/>
          </a:p>
        </p:txBody>
      </p:sp>
      <p:sp>
        <p:nvSpPr>
          <p:cNvPr id="19" name="Text 17"/>
          <p:cNvSpPr/>
          <p:nvPr/>
        </p:nvSpPr>
        <p:spPr>
          <a:xfrm>
            <a:off x="6537960" y="3273552"/>
            <a:ext cx="1965960" cy="84124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Duyệt hồ sơ</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Giám sát • can thiệp</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Audit mọi thao tác</a:t>
            </a:r>
            <a:endParaRPr lang="en-US" sz="1100" dirty="0"/>
          </a:p>
        </p:txBody>
      </p:sp>
      <p:sp>
        <p:nvSpPr>
          <p:cNvPr id="20" name="Shape 18"/>
          <p:cNvSpPr/>
          <p:nvPr/>
        </p:nvSpPr>
        <p:spPr>
          <a:xfrm>
            <a:off x="9180576" y="1874520"/>
            <a:ext cx="2432304" cy="2514600"/>
          </a:xfrm>
          <a:prstGeom prst="roundRect">
            <a:avLst>
              <a:gd name="adj" fmla="val 3008"/>
            </a:avLst>
          </a:prstGeom>
          <a:solidFill>
            <a:srgbClr val="FFFFFF"/>
          </a:solidFill>
          <a:ln w="8890">
            <a:solidFill>
              <a:srgbClr val="D9E2E8"/>
            </a:solidFill>
            <a:prstDash val="solid"/>
          </a:ln>
        </p:spPr>
      </p:sp>
      <p:sp>
        <p:nvSpPr>
          <p:cNvPr id="21" name="Shape 19"/>
          <p:cNvSpPr/>
          <p:nvPr/>
        </p:nvSpPr>
        <p:spPr>
          <a:xfrm>
            <a:off x="9409176" y="2121408"/>
            <a:ext cx="502920" cy="502920"/>
          </a:xfrm>
          <a:prstGeom prst="ellipse">
            <a:avLst/>
          </a:prstGeom>
          <a:solidFill>
            <a:srgbClr val="FFE4DE"/>
          </a:solidFill>
          <a:ln w="12700">
            <a:solidFill>
              <a:srgbClr val="FFE4DE">
                <a:alpha val="0"/>
              </a:srgbClr>
            </a:solidFill>
            <a:prstDash val="solid"/>
          </a:ln>
        </p:spPr>
      </p:sp>
      <p:sp>
        <p:nvSpPr>
          <p:cNvPr id="22" name="Text 20"/>
          <p:cNvSpPr/>
          <p:nvPr/>
        </p:nvSpPr>
        <p:spPr>
          <a:xfrm>
            <a:off x="9409176" y="2139696"/>
            <a:ext cx="502920" cy="43891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A34537"/>
                </a:solidFill>
                <a:latin typeface="Arial" pitchFamily="34" charset="0"/>
                <a:ea typeface="Arial" pitchFamily="34" charset="-122"/>
                <a:cs typeface="Arial" pitchFamily="34" charset="-120"/>
              </a:rPr>
              <a:t>RT</a:t>
            </a:r>
            <a:endParaRPr lang="en-US" sz="1000" dirty="0"/>
          </a:p>
        </p:txBody>
      </p:sp>
      <p:sp>
        <p:nvSpPr>
          <p:cNvPr id="23" name="Text 21"/>
          <p:cNvSpPr/>
          <p:nvPr/>
        </p:nvSpPr>
        <p:spPr>
          <a:xfrm>
            <a:off x="9409176" y="2807208"/>
            <a:ext cx="1965960" cy="274320"/>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0B1B2B"/>
                </a:solidFill>
                <a:latin typeface="Arial" pitchFamily="34" charset="0"/>
                <a:ea typeface="Arial" pitchFamily="34" charset="-122"/>
                <a:cs typeface="Arial" pitchFamily="34" charset="-120"/>
              </a:rPr>
              <a:t>Hệ thống nền</a:t>
            </a:r>
            <a:endParaRPr lang="en-US" sz="1500" dirty="0"/>
          </a:p>
        </p:txBody>
      </p:sp>
      <p:sp>
        <p:nvSpPr>
          <p:cNvPr id="24" name="Text 22"/>
          <p:cNvSpPr/>
          <p:nvPr/>
        </p:nvSpPr>
        <p:spPr>
          <a:xfrm>
            <a:off x="9409176" y="3273552"/>
            <a:ext cx="1965960" cy="841248"/>
          </a:xfrm>
          <a:prstGeom prst="rect">
            <a:avLst/>
          </a:prstGeom>
          <a:noFill/>
          <a:ln/>
        </p:spPr>
        <p:txBody>
          <a:bodyPr wrap="square" lIns="0" tIns="0" rIns="0" bIns="0" rtlCol="0" anchor="t">
            <a:normAutofit/>
          </a:bodyPr>
          <a:lstStyle/>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Matching • route / ETA</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Outbox • realtime</a:t>
            </a:r>
            <a:endParaRPr lang="en-US" sz="1100" dirty="0"/>
          </a:p>
          <a:p>
            <a:pPr algn="l" indent="0" marL="0">
              <a:lnSpc>
                <a:spcPct val="100000"/>
              </a:lnSpc>
              <a:buNone/>
            </a:pPr>
            <a:r>
              <a:rPr lang="en-US" sz="1100" dirty="0">
                <a:solidFill>
                  <a:srgbClr val="617180"/>
                </a:solidFill>
                <a:latin typeface="Arial" pitchFamily="34" charset="0"/>
                <a:ea typeface="Arial" pitchFamily="34" charset="-122"/>
                <a:cs typeface="Arial" pitchFamily="34" charset="-120"/>
              </a:rPr>
              <a:t>Push / SMS fallback</a:t>
            </a:r>
            <a:endParaRPr lang="en-US" sz="1100" dirty="0"/>
          </a:p>
        </p:txBody>
      </p:sp>
      <p:sp>
        <p:nvSpPr>
          <p:cNvPr id="25" name="Text 23"/>
          <p:cNvSpPr/>
          <p:nvPr/>
        </p:nvSpPr>
        <p:spPr>
          <a:xfrm>
            <a:off x="566928" y="4956048"/>
            <a:ext cx="2834640" cy="256032"/>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0B1B2B"/>
                </a:solidFill>
                <a:latin typeface="Arial" pitchFamily="34" charset="0"/>
                <a:ea typeface="Arial" pitchFamily="34" charset="-122"/>
                <a:cs typeface="Arial" pitchFamily="34" charset="-120"/>
              </a:rPr>
              <a:t>Ranh giới sở hữu dữ liệu</a:t>
            </a:r>
            <a:endParaRPr lang="en-US" sz="1400" dirty="0"/>
          </a:p>
        </p:txBody>
      </p:sp>
      <p:sp>
        <p:nvSpPr>
          <p:cNvPr id="26" name="Shape 24"/>
          <p:cNvSpPr/>
          <p:nvPr/>
        </p:nvSpPr>
        <p:spPr>
          <a:xfrm>
            <a:off x="566928" y="5413248"/>
            <a:ext cx="2505456" cy="530352"/>
          </a:xfrm>
          <a:prstGeom prst="roundRect">
            <a:avLst>
              <a:gd name="adj" fmla="val 13793"/>
            </a:avLst>
          </a:prstGeom>
          <a:solidFill>
            <a:srgbClr val="FFFFFF"/>
          </a:solidFill>
          <a:ln w="8890">
            <a:solidFill>
              <a:srgbClr val="D9E2E8"/>
            </a:solidFill>
            <a:prstDash val="solid"/>
          </a:ln>
        </p:spPr>
      </p:sp>
      <p:sp>
        <p:nvSpPr>
          <p:cNvPr id="27" name="Text 25"/>
          <p:cNvSpPr/>
          <p:nvPr/>
        </p:nvSpPr>
        <p:spPr>
          <a:xfrm>
            <a:off x="713232" y="5504688"/>
            <a:ext cx="1060704"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E8F82"/>
                </a:solidFill>
                <a:latin typeface="Arial" pitchFamily="34" charset="0"/>
                <a:ea typeface="Arial" pitchFamily="34" charset="-122"/>
                <a:cs typeface="Arial" pitchFamily="34" charset="-120"/>
              </a:rPr>
              <a:t>Mobile</a:t>
            </a:r>
            <a:endParaRPr lang="en-US" sz="1000" dirty="0"/>
          </a:p>
        </p:txBody>
      </p:sp>
      <p:sp>
        <p:nvSpPr>
          <p:cNvPr id="28" name="Text 26"/>
          <p:cNvSpPr/>
          <p:nvPr/>
        </p:nvSpPr>
        <p:spPr>
          <a:xfrm>
            <a:off x="1554480" y="5486400"/>
            <a:ext cx="1335024" cy="182880"/>
          </a:xfrm>
          <a:prstGeom prst="rect">
            <a:avLst/>
          </a:prstGeom>
          <a:noFill/>
          <a:ln/>
        </p:spPr>
        <p:txBody>
          <a:bodyPr wrap="square" lIns="0" tIns="0" rIns="0" bIns="0" rtlCol="0" anchor="ctr">
            <a:normAutofit/>
          </a:bodyPr>
          <a:lstStyle/>
          <a:p>
            <a:pPr algn="r" indent="0" marL="0">
              <a:lnSpc>
                <a:spcPct val="100000"/>
              </a:lnSpc>
              <a:buNone/>
            </a:pPr>
            <a:r>
              <a:rPr lang="en-US" sz="880" dirty="0">
                <a:solidFill>
                  <a:srgbClr val="617180"/>
                </a:solidFill>
                <a:latin typeface="Arial" pitchFamily="34" charset="0"/>
                <a:ea typeface="Arial" pitchFamily="34" charset="-122"/>
                <a:cs typeface="Arial" pitchFamily="34" charset="-120"/>
              </a:rPr>
              <a:t>UI + local state + retry</a:t>
            </a:r>
            <a:endParaRPr lang="en-US" sz="880" dirty="0"/>
          </a:p>
        </p:txBody>
      </p:sp>
      <p:sp>
        <p:nvSpPr>
          <p:cNvPr id="29" name="Shape 27"/>
          <p:cNvSpPr/>
          <p:nvPr/>
        </p:nvSpPr>
        <p:spPr>
          <a:xfrm>
            <a:off x="3328416" y="5413248"/>
            <a:ext cx="2505456" cy="530352"/>
          </a:xfrm>
          <a:prstGeom prst="roundRect">
            <a:avLst>
              <a:gd name="adj" fmla="val 13793"/>
            </a:avLst>
          </a:prstGeom>
          <a:solidFill>
            <a:srgbClr val="0B1B2B"/>
          </a:solidFill>
          <a:ln w="8890">
            <a:solidFill>
              <a:srgbClr val="0B1B2B"/>
            </a:solidFill>
            <a:prstDash val="solid"/>
          </a:ln>
        </p:spPr>
      </p:sp>
      <p:sp>
        <p:nvSpPr>
          <p:cNvPr id="30" name="Text 28"/>
          <p:cNvSpPr/>
          <p:nvPr/>
        </p:nvSpPr>
        <p:spPr>
          <a:xfrm>
            <a:off x="3474720" y="5504688"/>
            <a:ext cx="1060704"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8C98B"/>
                </a:solidFill>
                <a:latin typeface="Arial" pitchFamily="34" charset="0"/>
                <a:ea typeface="Arial" pitchFamily="34" charset="-122"/>
                <a:cs typeface="Arial" pitchFamily="34" charset="-120"/>
              </a:rPr>
              <a:t>Laravel worker</a:t>
            </a:r>
            <a:endParaRPr lang="en-US" sz="1000" dirty="0"/>
          </a:p>
        </p:txBody>
      </p:sp>
      <p:sp>
        <p:nvSpPr>
          <p:cNvPr id="31" name="Text 29"/>
          <p:cNvSpPr/>
          <p:nvPr/>
        </p:nvSpPr>
        <p:spPr>
          <a:xfrm>
            <a:off x="4315968" y="5486400"/>
            <a:ext cx="1335024" cy="182880"/>
          </a:xfrm>
          <a:prstGeom prst="rect">
            <a:avLst/>
          </a:prstGeom>
          <a:noFill/>
          <a:ln/>
        </p:spPr>
        <p:txBody>
          <a:bodyPr wrap="square" lIns="0" tIns="0" rIns="0" bIns="0" rtlCol="0" anchor="ctr">
            <a:normAutofit/>
          </a:bodyPr>
          <a:lstStyle/>
          <a:p>
            <a:pPr algn="r" indent="0" marL="0">
              <a:lnSpc>
                <a:spcPct val="100000"/>
              </a:lnSpc>
              <a:buNone/>
            </a:pPr>
            <a:r>
              <a:rPr lang="en-US" sz="880" dirty="0">
                <a:solidFill>
                  <a:srgbClr val="FFFFFF"/>
                </a:solidFill>
                <a:latin typeface="Arial" pitchFamily="34" charset="0"/>
                <a:ea typeface="Arial" pitchFamily="34" charset="-122"/>
                <a:cs typeface="Arial" pitchFamily="34" charset="-120"/>
              </a:rPr>
              <a:t>DB + state machine + payment</a:t>
            </a:r>
            <a:endParaRPr lang="en-US" sz="880" dirty="0"/>
          </a:p>
        </p:txBody>
      </p:sp>
      <p:sp>
        <p:nvSpPr>
          <p:cNvPr id="32" name="Shape 30"/>
          <p:cNvSpPr/>
          <p:nvPr/>
        </p:nvSpPr>
        <p:spPr>
          <a:xfrm>
            <a:off x="6089904" y="5413248"/>
            <a:ext cx="2505456" cy="530352"/>
          </a:xfrm>
          <a:prstGeom prst="roundRect">
            <a:avLst>
              <a:gd name="adj" fmla="val 13793"/>
            </a:avLst>
          </a:prstGeom>
          <a:solidFill>
            <a:srgbClr val="FFFFFF"/>
          </a:solidFill>
          <a:ln w="8890">
            <a:solidFill>
              <a:srgbClr val="D9E2E8"/>
            </a:solidFill>
            <a:prstDash val="solid"/>
          </a:ln>
        </p:spPr>
      </p:sp>
      <p:sp>
        <p:nvSpPr>
          <p:cNvPr id="33" name="Text 31"/>
          <p:cNvSpPr/>
          <p:nvPr/>
        </p:nvSpPr>
        <p:spPr>
          <a:xfrm>
            <a:off x="6236208" y="5504688"/>
            <a:ext cx="1060704"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E8F82"/>
                </a:solidFill>
                <a:latin typeface="Arial" pitchFamily="34" charset="0"/>
                <a:ea typeface="Arial" pitchFamily="34" charset="-122"/>
                <a:cs typeface="Arial" pitchFamily="34" charset="-120"/>
              </a:rPr>
              <a:t>Realtime service</a:t>
            </a:r>
            <a:endParaRPr lang="en-US" sz="1000" dirty="0"/>
          </a:p>
        </p:txBody>
      </p:sp>
      <p:sp>
        <p:nvSpPr>
          <p:cNvPr id="34" name="Text 32"/>
          <p:cNvSpPr/>
          <p:nvPr/>
        </p:nvSpPr>
        <p:spPr>
          <a:xfrm>
            <a:off x="7077456" y="5486400"/>
            <a:ext cx="1335024" cy="182880"/>
          </a:xfrm>
          <a:prstGeom prst="rect">
            <a:avLst/>
          </a:prstGeom>
          <a:noFill/>
          <a:ln/>
        </p:spPr>
        <p:txBody>
          <a:bodyPr wrap="square" lIns="0" tIns="0" rIns="0" bIns="0" rtlCol="0" anchor="ctr">
            <a:normAutofit/>
          </a:bodyPr>
          <a:lstStyle/>
          <a:p>
            <a:pPr algn="r" indent="0" marL="0">
              <a:lnSpc>
                <a:spcPct val="100000"/>
              </a:lnSpc>
              <a:buNone/>
            </a:pPr>
            <a:r>
              <a:rPr lang="en-US" sz="880" dirty="0">
                <a:solidFill>
                  <a:srgbClr val="617180"/>
                </a:solidFill>
                <a:latin typeface="Arial" pitchFamily="34" charset="0"/>
                <a:ea typeface="Arial" pitchFamily="34" charset="-122"/>
                <a:cs typeface="Arial" pitchFamily="34" charset="-120"/>
              </a:rPr>
              <a:t>Socket room + event delivery</a:t>
            </a:r>
            <a:endParaRPr lang="en-US" sz="880" dirty="0"/>
          </a:p>
        </p:txBody>
      </p:sp>
      <p:sp>
        <p:nvSpPr>
          <p:cNvPr id="35" name="Shape 33"/>
          <p:cNvSpPr/>
          <p:nvPr/>
        </p:nvSpPr>
        <p:spPr>
          <a:xfrm>
            <a:off x="8851392" y="5413248"/>
            <a:ext cx="2505456" cy="530352"/>
          </a:xfrm>
          <a:prstGeom prst="roundRect">
            <a:avLst>
              <a:gd name="adj" fmla="val 13793"/>
            </a:avLst>
          </a:prstGeom>
          <a:solidFill>
            <a:srgbClr val="FFFFFF"/>
          </a:solidFill>
          <a:ln w="8890">
            <a:solidFill>
              <a:srgbClr val="D9E2E8"/>
            </a:solidFill>
            <a:prstDash val="solid"/>
          </a:ln>
        </p:spPr>
      </p:sp>
      <p:sp>
        <p:nvSpPr>
          <p:cNvPr id="36" name="Text 34"/>
          <p:cNvSpPr/>
          <p:nvPr/>
        </p:nvSpPr>
        <p:spPr>
          <a:xfrm>
            <a:off x="8997696" y="5504688"/>
            <a:ext cx="1060704" cy="164592"/>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E8F82"/>
                </a:solidFill>
                <a:latin typeface="Arial" pitchFamily="34" charset="0"/>
                <a:ea typeface="Arial" pitchFamily="34" charset="-122"/>
                <a:cs typeface="Arial" pitchFamily="34" charset="-120"/>
              </a:rPr>
              <a:t>Redis</a:t>
            </a:r>
            <a:endParaRPr lang="en-US" sz="1000" dirty="0"/>
          </a:p>
        </p:txBody>
      </p:sp>
      <p:sp>
        <p:nvSpPr>
          <p:cNvPr id="37" name="Text 35"/>
          <p:cNvSpPr/>
          <p:nvPr/>
        </p:nvSpPr>
        <p:spPr>
          <a:xfrm>
            <a:off x="9838944" y="5486400"/>
            <a:ext cx="1335024" cy="182880"/>
          </a:xfrm>
          <a:prstGeom prst="rect">
            <a:avLst/>
          </a:prstGeom>
          <a:noFill/>
          <a:ln/>
        </p:spPr>
        <p:txBody>
          <a:bodyPr wrap="square" lIns="0" tIns="0" rIns="0" bIns="0" rtlCol="0" anchor="ctr">
            <a:normAutofit/>
          </a:bodyPr>
          <a:lstStyle/>
          <a:p>
            <a:pPr algn="r" indent="0" marL="0">
              <a:lnSpc>
                <a:spcPct val="100000"/>
              </a:lnSpc>
              <a:buNone/>
            </a:pPr>
            <a:r>
              <a:rPr lang="en-US" sz="880" dirty="0">
                <a:solidFill>
                  <a:srgbClr val="617180"/>
                </a:solidFill>
                <a:latin typeface="Arial" pitchFamily="34" charset="0"/>
                <a:ea typeface="Arial" pitchFamily="34" charset="-122"/>
                <a:cs typeface="Arial" pitchFamily="34" charset="-120"/>
              </a:rPr>
              <a:t>Queue / outbox / presence / TTL</a:t>
            </a:r>
            <a:endParaRPr lang="en-US" sz="880" dirty="0"/>
          </a:p>
        </p:txBody>
      </p:sp>
      <p:sp>
        <p:nvSpPr>
          <p:cNvPr id="38" name="Shape 36"/>
          <p:cNvSpPr/>
          <p:nvPr/>
        </p:nvSpPr>
        <p:spPr>
          <a:xfrm>
            <a:off x="502920" y="6419088"/>
            <a:ext cx="11155680" cy="0"/>
          </a:xfrm>
          <a:prstGeom prst="line">
            <a:avLst/>
          </a:prstGeom>
          <a:noFill/>
          <a:ln w="8255">
            <a:solidFill>
              <a:srgbClr val="D9E2E8"/>
            </a:solidFill>
            <a:prstDash val="solid"/>
            <a:headEnd type="none"/>
            <a:tailEnd type="none"/>
          </a:ln>
        </p:spPr>
      </p:sp>
      <p:sp>
        <p:nvSpPr>
          <p:cNvPr id="39" name="Text 37"/>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docs/00-tong-quan.md • docs/implementation/README.md</a:t>
            </a:r>
            <a:endParaRPr lang="en-US" sz="750" dirty="0"/>
          </a:p>
        </p:txBody>
      </p:sp>
      <p:sp>
        <p:nvSpPr>
          <p:cNvPr id="40" name="Text 38"/>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03</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03 • SẢN PHẨM</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Một trải nghiệm liền mạch cho cả khách và tài xế</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Ảnh chụp từ các màn hình thiết kế/triển khai trong repo.</a:t>
            </a:r>
            <a:endParaRPr lang="en-US" sz="1200" dirty="0"/>
          </a:p>
        </p:txBody>
      </p:sp>
      <p:sp>
        <p:nvSpPr>
          <p:cNvPr id="5" name="Shape 3"/>
          <p:cNvSpPr/>
          <p:nvPr/>
        </p:nvSpPr>
        <p:spPr>
          <a:xfrm>
            <a:off x="704088" y="1764792"/>
            <a:ext cx="1847088" cy="4242816"/>
          </a:xfrm>
          <a:prstGeom prst="roundRect">
            <a:avLst>
              <a:gd name="adj" fmla="val 3960"/>
            </a:avLst>
          </a:prstGeom>
          <a:solidFill>
            <a:srgbClr val="0B1B2B"/>
          </a:solidFill>
          <a:ln w="7620">
            <a:solidFill>
              <a:srgbClr val="0B1B2B"/>
            </a:solidFill>
            <a:prstDash val="solid"/>
          </a:ln>
        </p:spPr>
      </p:sp>
      <p:pic>
        <p:nvPicPr>
          <p:cNvPr id="6" name="Image 0" descr="C:\Users\truonghocdot\Workspace\study\graduation_project\docs\design\client\home\screen.png">    </p:cNvPr>
          <p:cNvPicPr>
            <a:picLocks noChangeAspect="1"/>
          </p:cNvPicPr>
          <p:nvPr/>
        </p:nvPicPr>
        <p:blipFill>
          <a:blip r:embed="rId1"/>
          <a:stretch>
            <a:fillRect/>
          </a:stretch>
        </p:blipFill>
        <p:spPr>
          <a:xfrm>
            <a:off x="777240" y="1856232"/>
            <a:ext cx="1700784" cy="3977640"/>
          </a:xfrm>
          <a:prstGeom prst="rect">
            <a:avLst/>
          </a:prstGeom>
        </p:spPr>
      </p:pic>
      <p:sp>
        <p:nvSpPr>
          <p:cNvPr id="7" name="Shape 4"/>
          <p:cNvSpPr/>
          <p:nvPr/>
        </p:nvSpPr>
        <p:spPr>
          <a:xfrm>
            <a:off x="1481328" y="1783080"/>
            <a:ext cx="292608" cy="292608"/>
          </a:xfrm>
          <a:prstGeom prst="ellipse">
            <a:avLst/>
          </a:prstGeom>
          <a:solidFill>
            <a:srgbClr val="0B1B2B"/>
          </a:solidFill>
          <a:ln w="12700">
            <a:solidFill>
              <a:srgbClr val="0B1B2B">
                <a:alpha val="0"/>
              </a:srgbClr>
            </a:solidFill>
            <a:prstDash val="solid"/>
          </a:ln>
        </p:spPr>
      </p:sp>
      <p:sp>
        <p:nvSpPr>
          <p:cNvPr id="8" name="Text 5"/>
          <p:cNvSpPr/>
          <p:nvPr/>
        </p:nvSpPr>
        <p:spPr>
          <a:xfrm>
            <a:off x="685800" y="6062472"/>
            <a:ext cx="1874520" cy="182880"/>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1B2B"/>
                </a:solidFill>
                <a:latin typeface="Arial" pitchFamily="34" charset="0"/>
                <a:ea typeface="Arial" pitchFamily="34" charset="-122"/>
                <a:cs typeface="Arial" pitchFamily="34" charset="-120"/>
              </a:rPr>
              <a:t>Khách hàng • Trang chủ</a:t>
            </a:r>
            <a:endParaRPr lang="en-US" sz="1050" dirty="0"/>
          </a:p>
        </p:txBody>
      </p:sp>
      <p:sp>
        <p:nvSpPr>
          <p:cNvPr id="9" name="Text 6"/>
          <p:cNvSpPr/>
          <p:nvPr/>
        </p:nvSpPr>
        <p:spPr>
          <a:xfrm>
            <a:off x="685800" y="6254496"/>
            <a:ext cx="1874520" cy="146304"/>
          </a:xfrm>
          <a:prstGeom prst="rect">
            <a:avLst/>
          </a:prstGeom>
          <a:noFill/>
          <a:ln/>
        </p:spPr>
        <p:txBody>
          <a:bodyPr wrap="square" lIns="0" tIns="0" rIns="0" bIns="0" rtlCol="0" anchor="ctr">
            <a:normAutofit/>
          </a:bodyPr>
          <a:lstStyle/>
          <a:p>
            <a:pPr algn="ctr" indent="0" marL="0">
              <a:lnSpc>
                <a:spcPct val="100000"/>
              </a:lnSpc>
              <a:buNone/>
            </a:pPr>
            <a:r>
              <a:rPr lang="en-US" sz="860" b="1" dirty="0">
                <a:solidFill>
                  <a:srgbClr val="18C98B"/>
                </a:solidFill>
                <a:latin typeface="Arial" pitchFamily="34" charset="0"/>
                <a:ea typeface="Arial" pitchFamily="34" charset="-122"/>
                <a:cs typeface="Arial" pitchFamily="34" charset="-120"/>
              </a:rPr>
              <a:t>Dịch vụ / địa chỉ / ưu đãi</a:t>
            </a:r>
            <a:endParaRPr lang="en-US" sz="860" dirty="0"/>
          </a:p>
        </p:txBody>
      </p:sp>
      <p:sp>
        <p:nvSpPr>
          <p:cNvPr id="10" name="Shape 7"/>
          <p:cNvSpPr/>
          <p:nvPr/>
        </p:nvSpPr>
        <p:spPr>
          <a:xfrm>
            <a:off x="2779776" y="1764792"/>
            <a:ext cx="1847088" cy="4242816"/>
          </a:xfrm>
          <a:prstGeom prst="roundRect">
            <a:avLst>
              <a:gd name="adj" fmla="val 3960"/>
            </a:avLst>
          </a:prstGeom>
          <a:solidFill>
            <a:srgbClr val="0B1B2B"/>
          </a:solidFill>
          <a:ln w="7620">
            <a:solidFill>
              <a:srgbClr val="0B1B2B"/>
            </a:solidFill>
            <a:prstDash val="solid"/>
          </a:ln>
        </p:spPr>
      </p:sp>
      <p:pic>
        <p:nvPicPr>
          <p:cNvPr id="11" name="Image 1" descr="C:\Users\truonghocdot\Workspace\study\graduation_project\docs\design\client\profile\screen.png">    </p:cNvPr>
          <p:cNvPicPr>
            <a:picLocks noChangeAspect="1"/>
          </p:cNvPicPr>
          <p:nvPr/>
        </p:nvPicPr>
        <p:blipFill>
          <a:blip r:embed="rId2"/>
          <a:stretch>
            <a:fillRect/>
          </a:stretch>
        </p:blipFill>
        <p:spPr>
          <a:xfrm>
            <a:off x="2852928" y="1856232"/>
            <a:ext cx="1700784" cy="3977640"/>
          </a:xfrm>
          <a:prstGeom prst="rect">
            <a:avLst/>
          </a:prstGeom>
        </p:spPr>
      </p:pic>
      <p:sp>
        <p:nvSpPr>
          <p:cNvPr id="12" name="Shape 8"/>
          <p:cNvSpPr/>
          <p:nvPr/>
        </p:nvSpPr>
        <p:spPr>
          <a:xfrm>
            <a:off x="3557016" y="1783080"/>
            <a:ext cx="292608" cy="292608"/>
          </a:xfrm>
          <a:prstGeom prst="ellipse">
            <a:avLst/>
          </a:prstGeom>
          <a:solidFill>
            <a:srgbClr val="0B1B2B"/>
          </a:solidFill>
          <a:ln w="12700">
            <a:solidFill>
              <a:srgbClr val="0B1B2B">
                <a:alpha val="0"/>
              </a:srgbClr>
            </a:solidFill>
            <a:prstDash val="solid"/>
          </a:ln>
        </p:spPr>
      </p:sp>
      <p:sp>
        <p:nvSpPr>
          <p:cNvPr id="13" name="Text 9"/>
          <p:cNvSpPr/>
          <p:nvPr/>
        </p:nvSpPr>
        <p:spPr>
          <a:xfrm>
            <a:off x="2761488" y="6062472"/>
            <a:ext cx="1874520" cy="182880"/>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1B2B"/>
                </a:solidFill>
                <a:latin typeface="Arial" pitchFamily="34" charset="0"/>
                <a:ea typeface="Arial" pitchFamily="34" charset="-122"/>
                <a:cs typeface="Arial" pitchFamily="34" charset="-120"/>
              </a:rPr>
              <a:t>Khách hàng • Ví &amp; hồ sơ</a:t>
            </a:r>
            <a:endParaRPr lang="en-US" sz="1050" dirty="0"/>
          </a:p>
        </p:txBody>
      </p:sp>
      <p:sp>
        <p:nvSpPr>
          <p:cNvPr id="14" name="Text 10"/>
          <p:cNvSpPr/>
          <p:nvPr/>
        </p:nvSpPr>
        <p:spPr>
          <a:xfrm>
            <a:off x="2761488" y="6254496"/>
            <a:ext cx="1874520" cy="146304"/>
          </a:xfrm>
          <a:prstGeom prst="rect">
            <a:avLst/>
          </a:prstGeom>
          <a:noFill/>
          <a:ln/>
        </p:spPr>
        <p:txBody>
          <a:bodyPr wrap="square" lIns="0" tIns="0" rIns="0" bIns="0" rtlCol="0" anchor="ctr">
            <a:normAutofit/>
          </a:bodyPr>
          <a:lstStyle/>
          <a:p>
            <a:pPr algn="ctr" indent="0" marL="0">
              <a:lnSpc>
                <a:spcPct val="100000"/>
              </a:lnSpc>
              <a:buNone/>
            </a:pPr>
            <a:r>
              <a:rPr lang="en-US" sz="860" b="1" dirty="0">
                <a:solidFill>
                  <a:srgbClr val="4F86D9"/>
                </a:solidFill>
                <a:latin typeface="Arial" pitchFamily="34" charset="0"/>
                <a:ea typeface="Arial" pitchFamily="34" charset="-122"/>
                <a:cs typeface="Arial" pitchFamily="34" charset="-120"/>
              </a:rPr>
              <a:t>Ví lạnh / thanh toán / hỗ trợ</a:t>
            </a:r>
            <a:endParaRPr lang="en-US" sz="860" dirty="0"/>
          </a:p>
        </p:txBody>
      </p:sp>
      <p:sp>
        <p:nvSpPr>
          <p:cNvPr id="15" name="Shape 11"/>
          <p:cNvSpPr/>
          <p:nvPr/>
        </p:nvSpPr>
        <p:spPr>
          <a:xfrm>
            <a:off x="6099048" y="1764792"/>
            <a:ext cx="1847088" cy="4242816"/>
          </a:xfrm>
          <a:prstGeom prst="roundRect">
            <a:avLst>
              <a:gd name="adj" fmla="val 3960"/>
            </a:avLst>
          </a:prstGeom>
          <a:solidFill>
            <a:srgbClr val="0B1B2B"/>
          </a:solidFill>
          <a:ln w="7620">
            <a:solidFill>
              <a:srgbClr val="0B1B2B"/>
            </a:solidFill>
            <a:prstDash val="solid"/>
          </a:ln>
        </p:spPr>
      </p:sp>
      <p:pic>
        <p:nvPicPr>
          <p:cNvPr id="16" name="Image 2" descr="C:\Users\truonghocdot\Workspace\study\graduation_project\docs\design\driver\history\screen.png">    </p:cNvPr>
          <p:cNvPicPr>
            <a:picLocks noChangeAspect="1"/>
          </p:cNvPicPr>
          <p:nvPr/>
        </p:nvPicPr>
        <p:blipFill>
          <a:blip r:embed="rId3"/>
          <a:stretch>
            <a:fillRect/>
          </a:stretch>
        </p:blipFill>
        <p:spPr>
          <a:xfrm>
            <a:off x="6172200" y="1856232"/>
            <a:ext cx="1700784" cy="3977640"/>
          </a:xfrm>
          <a:prstGeom prst="rect">
            <a:avLst/>
          </a:prstGeom>
        </p:spPr>
      </p:pic>
      <p:sp>
        <p:nvSpPr>
          <p:cNvPr id="17" name="Shape 12"/>
          <p:cNvSpPr/>
          <p:nvPr/>
        </p:nvSpPr>
        <p:spPr>
          <a:xfrm>
            <a:off x="6876288" y="1783080"/>
            <a:ext cx="292608" cy="292608"/>
          </a:xfrm>
          <a:prstGeom prst="ellipse">
            <a:avLst/>
          </a:prstGeom>
          <a:solidFill>
            <a:srgbClr val="0B1B2B"/>
          </a:solidFill>
          <a:ln w="12700">
            <a:solidFill>
              <a:srgbClr val="0B1B2B">
                <a:alpha val="0"/>
              </a:srgbClr>
            </a:solidFill>
            <a:prstDash val="solid"/>
          </a:ln>
        </p:spPr>
      </p:sp>
      <p:sp>
        <p:nvSpPr>
          <p:cNvPr id="18" name="Text 13"/>
          <p:cNvSpPr/>
          <p:nvPr/>
        </p:nvSpPr>
        <p:spPr>
          <a:xfrm>
            <a:off x="6080760" y="6062472"/>
            <a:ext cx="1874520" cy="182880"/>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1B2B"/>
                </a:solidFill>
                <a:latin typeface="Arial" pitchFamily="34" charset="0"/>
                <a:ea typeface="Arial" pitchFamily="34" charset="-122"/>
                <a:cs typeface="Arial" pitchFamily="34" charset="-120"/>
              </a:rPr>
              <a:t>Tài xế • Lịch sử hoạt động</a:t>
            </a:r>
            <a:endParaRPr lang="en-US" sz="1050" dirty="0"/>
          </a:p>
        </p:txBody>
      </p:sp>
      <p:sp>
        <p:nvSpPr>
          <p:cNvPr id="19" name="Text 14"/>
          <p:cNvSpPr/>
          <p:nvPr/>
        </p:nvSpPr>
        <p:spPr>
          <a:xfrm>
            <a:off x="6080760" y="6254496"/>
            <a:ext cx="1874520" cy="146304"/>
          </a:xfrm>
          <a:prstGeom prst="rect">
            <a:avLst/>
          </a:prstGeom>
          <a:noFill/>
          <a:ln/>
        </p:spPr>
        <p:txBody>
          <a:bodyPr wrap="square" lIns="0" tIns="0" rIns="0" bIns="0" rtlCol="0" anchor="ctr">
            <a:normAutofit/>
          </a:bodyPr>
          <a:lstStyle/>
          <a:p>
            <a:pPr algn="ctr" indent="0" marL="0">
              <a:lnSpc>
                <a:spcPct val="100000"/>
              </a:lnSpc>
              <a:buNone/>
            </a:pPr>
            <a:r>
              <a:rPr lang="en-US" sz="860" b="1" dirty="0">
                <a:solidFill>
                  <a:srgbClr val="F4B942"/>
                </a:solidFill>
                <a:latin typeface="Arial" pitchFamily="34" charset="0"/>
                <a:ea typeface="Arial" pitchFamily="34" charset="-122"/>
                <a:cs typeface="Arial" pitchFamily="34" charset="-120"/>
              </a:rPr>
              <a:t>Ca chạy / trạng thái / thu nhập</a:t>
            </a:r>
            <a:endParaRPr lang="en-US" sz="860" dirty="0"/>
          </a:p>
        </p:txBody>
      </p:sp>
      <p:sp>
        <p:nvSpPr>
          <p:cNvPr id="20" name="Shape 15"/>
          <p:cNvSpPr/>
          <p:nvPr/>
        </p:nvSpPr>
        <p:spPr>
          <a:xfrm>
            <a:off x="8174736" y="1764792"/>
            <a:ext cx="1847088" cy="4242816"/>
          </a:xfrm>
          <a:prstGeom prst="roundRect">
            <a:avLst>
              <a:gd name="adj" fmla="val 3960"/>
            </a:avLst>
          </a:prstGeom>
          <a:solidFill>
            <a:srgbClr val="0B1B2B"/>
          </a:solidFill>
          <a:ln w="7620">
            <a:solidFill>
              <a:srgbClr val="0B1B2B"/>
            </a:solidFill>
            <a:prstDash val="solid"/>
          </a:ln>
        </p:spPr>
      </p:sp>
      <p:pic>
        <p:nvPicPr>
          <p:cNvPr id="21" name="Image 3" descr="C:\Users\truonghocdot\Workspace\study\graduation_project\docs\design\driver\wallet\screen.png">    </p:cNvPr>
          <p:cNvPicPr>
            <a:picLocks noChangeAspect="1"/>
          </p:cNvPicPr>
          <p:nvPr/>
        </p:nvPicPr>
        <p:blipFill>
          <a:blip r:embed="rId4"/>
          <a:stretch>
            <a:fillRect/>
          </a:stretch>
        </p:blipFill>
        <p:spPr>
          <a:xfrm>
            <a:off x="8247888" y="1856232"/>
            <a:ext cx="1700784" cy="3977640"/>
          </a:xfrm>
          <a:prstGeom prst="rect">
            <a:avLst/>
          </a:prstGeom>
        </p:spPr>
      </p:pic>
      <p:sp>
        <p:nvSpPr>
          <p:cNvPr id="22" name="Shape 16"/>
          <p:cNvSpPr/>
          <p:nvPr/>
        </p:nvSpPr>
        <p:spPr>
          <a:xfrm>
            <a:off x="8951976" y="1783080"/>
            <a:ext cx="292608" cy="292608"/>
          </a:xfrm>
          <a:prstGeom prst="ellipse">
            <a:avLst/>
          </a:prstGeom>
          <a:solidFill>
            <a:srgbClr val="0B1B2B"/>
          </a:solidFill>
          <a:ln w="12700">
            <a:solidFill>
              <a:srgbClr val="0B1B2B">
                <a:alpha val="0"/>
              </a:srgbClr>
            </a:solidFill>
            <a:prstDash val="solid"/>
          </a:ln>
        </p:spPr>
      </p:sp>
      <p:sp>
        <p:nvSpPr>
          <p:cNvPr id="23" name="Text 17"/>
          <p:cNvSpPr/>
          <p:nvPr/>
        </p:nvSpPr>
        <p:spPr>
          <a:xfrm>
            <a:off x="8156448" y="6062472"/>
            <a:ext cx="1874520" cy="182880"/>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1B2B"/>
                </a:solidFill>
                <a:latin typeface="Arial" pitchFamily="34" charset="0"/>
                <a:ea typeface="Arial" pitchFamily="34" charset="-122"/>
                <a:cs typeface="Arial" pitchFamily="34" charset="-120"/>
              </a:rPr>
              <a:t>Tài xế • Ví thu nhập</a:t>
            </a:r>
            <a:endParaRPr lang="en-US" sz="1050" dirty="0"/>
          </a:p>
        </p:txBody>
      </p:sp>
      <p:sp>
        <p:nvSpPr>
          <p:cNvPr id="24" name="Text 18"/>
          <p:cNvSpPr/>
          <p:nvPr/>
        </p:nvSpPr>
        <p:spPr>
          <a:xfrm>
            <a:off x="8156448" y="6254496"/>
            <a:ext cx="1874520" cy="146304"/>
          </a:xfrm>
          <a:prstGeom prst="rect">
            <a:avLst/>
          </a:prstGeom>
          <a:noFill/>
          <a:ln/>
        </p:spPr>
        <p:txBody>
          <a:bodyPr wrap="square" lIns="0" tIns="0" rIns="0" bIns="0" rtlCol="0" anchor="ctr">
            <a:normAutofit/>
          </a:bodyPr>
          <a:lstStyle/>
          <a:p>
            <a:pPr algn="ctr" indent="0" marL="0">
              <a:lnSpc>
                <a:spcPct val="100000"/>
              </a:lnSpc>
              <a:buNone/>
            </a:pPr>
            <a:r>
              <a:rPr lang="en-US" sz="860" b="1" dirty="0">
                <a:solidFill>
                  <a:srgbClr val="F36C5B"/>
                </a:solidFill>
                <a:latin typeface="Arial" pitchFamily="34" charset="0"/>
                <a:ea typeface="Arial" pitchFamily="34" charset="-122"/>
                <a:cs typeface="Arial" pitchFamily="34" charset="-120"/>
              </a:rPr>
              <a:t>Settlement / rút tiền / ngân hàng</a:t>
            </a:r>
            <a:endParaRPr lang="en-US" sz="86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04 • LUỒNG NGHIỆP VỤ</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Từ quote đến hoàn tất trong một vòng đời có kiểm soát</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Một flow dùng chung các điểm kiểm soát, nhưng tách state Delivery và Drive.</a:t>
            </a:r>
            <a:endParaRPr lang="en-US" sz="1200" dirty="0"/>
          </a:p>
        </p:txBody>
      </p:sp>
      <p:sp>
        <p:nvSpPr>
          <p:cNvPr id="5" name="Shape 3"/>
          <p:cNvSpPr/>
          <p:nvPr/>
        </p:nvSpPr>
        <p:spPr>
          <a:xfrm>
            <a:off x="676656" y="1883664"/>
            <a:ext cx="566928" cy="566928"/>
          </a:xfrm>
          <a:prstGeom prst="ellipse">
            <a:avLst/>
          </a:prstGeom>
          <a:solidFill>
            <a:srgbClr val="E7F0FF"/>
          </a:solidFill>
          <a:ln w="12700">
            <a:solidFill>
              <a:srgbClr val="E7F0FF">
                <a:alpha val="0"/>
              </a:srgbClr>
            </a:solidFill>
            <a:prstDash val="solid"/>
          </a:ln>
        </p:spPr>
      </p:sp>
      <p:sp>
        <p:nvSpPr>
          <p:cNvPr id="6" name="Text 4"/>
          <p:cNvSpPr/>
          <p:nvPr/>
        </p:nvSpPr>
        <p:spPr>
          <a:xfrm>
            <a:off x="676656" y="1984248"/>
            <a:ext cx="566928"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4F86D9"/>
                </a:solidFill>
                <a:latin typeface="Arial" pitchFamily="34" charset="0"/>
                <a:ea typeface="Arial" pitchFamily="34" charset="-122"/>
                <a:cs typeface="Arial" pitchFamily="34" charset="-120"/>
              </a:rPr>
              <a:t>01</a:t>
            </a:r>
            <a:endParaRPr lang="en-US" sz="1100" dirty="0"/>
          </a:p>
        </p:txBody>
      </p:sp>
      <p:sp>
        <p:nvSpPr>
          <p:cNvPr id="7" name="Shape 5"/>
          <p:cNvSpPr/>
          <p:nvPr/>
        </p:nvSpPr>
        <p:spPr>
          <a:xfrm>
            <a:off x="1353312" y="2167128"/>
            <a:ext cx="1261872" cy="0"/>
          </a:xfrm>
          <a:prstGeom prst="line">
            <a:avLst/>
          </a:prstGeom>
          <a:noFill/>
          <a:ln w="22860">
            <a:solidFill>
              <a:srgbClr val="D9E2E8"/>
            </a:solidFill>
            <a:prstDash val="solid"/>
            <a:headEnd type="none"/>
            <a:tailEnd type="triangle"/>
          </a:ln>
        </p:spPr>
      </p:sp>
      <p:sp>
        <p:nvSpPr>
          <p:cNvPr id="8" name="Text 6"/>
          <p:cNvSpPr/>
          <p:nvPr/>
        </p:nvSpPr>
        <p:spPr>
          <a:xfrm>
            <a:off x="493776" y="2651760"/>
            <a:ext cx="1417320"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1B2B"/>
                </a:solidFill>
                <a:latin typeface="Arial" pitchFamily="34" charset="0"/>
                <a:ea typeface="Arial" pitchFamily="34" charset="-122"/>
                <a:cs typeface="Arial" pitchFamily="34" charset="-120"/>
              </a:rPr>
              <a:t>Quote</a:t>
            </a:r>
            <a:endParaRPr lang="en-US" sz="1600" dirty="0"/>
          </a:p>
        </p:txBody>
      </p:sp>
      <p:sp>
        <p:nvSpPr>
          <p:cNvPr id="9" name="Text 7"/>
          <p:cNvSpPr/>
          <p:nvPr/>
        </p:nvSpPr>
        <p:spPr>
          <a:xfrm>
            <a:off x="420624" y="3090672"/>
            <a:ext cx="1572768" cy="475488"/>
          </a:xfrm>
          <a:prstGeom prst="rect">
            <a:avLst/>
          </a:prstGeom>
          <a:noFill/>
          <a:ln/>
        </p:spPr>
        <p:txBody>
          <a:bodyPr wrap="square" lIns="0" tIns="0" rIns="0" bIns="0" rtlCol="0" anchor="t">
            <a:normAutofit/>
          </a:bodyPr>
          <a:lstStyle/>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Route + giá</a:t>
            </a:r>
            <a:endParaRPr lang="en-US" sz="1100" dirty="0"/>
          </a:p>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 voucher</a:t>
            </a:r>
            <a:endParaRPr lang="en-US" sz="1100" dirty="0"/>
          </a:p>
        </p:txBody>
      </p:sp>
      <p:sp>
        <p:nvSpPr>
          <p:cNvPr id="10" name="Shape 8"/>
          <p:cNvSpPr/>
          <p:nvPr/>
        </p:nvSpPr>
        <p:spPr>
          <a:xfrm>
            <a:off x="2944368" y="1883664"/>
            <a:ext cx="566928" cy="566928"/>
          </a:xfrm>
          <a:prstGeom prst="ellipse">
            <a:avLst/>
          </a:prstGeom>
          <a:solidFill>
            <a:srgbClr val="DDF8EE"/>
          </a:solidFill>
          <a:ln w="12700">
            <a:solidFill>
              <a:srgbClr val="DDF8EE">
                <a:alpha val="0"/>
              </a:srgbClr>
            </a:solidFill>
            <a:prstDash val="solid"/>
          </a:ln>
        </p:spPr>
      </p:sp>
      <p:sp>
        <p:nvSpPr>
          <p:cNvPr id="11" name="Text 9"/>
          <p:cNvSpPr/>
          <p:nvPr/>
        </p:nvSpPr>
        <p:spPr>
          <a:xfrm>
            <a:off x="2944368" y="1984248"/>
            <a:ext cx="566928"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06B57"/>
                </a:solidFill>
                <a:latin typeface="Arial" pitchFamily="34" charset="0"/>
                <a:ea typeface="Arial" pitchFamily="34" charset="-122"/>
                <a:cs typeface="Arial" pitchFamily="34" charset="-120"/>
              </a:rPr>
              <a:t>02</a:t>
            </a:r>
            <a:endParaRPr lang="en-US" sz="1100" dirty="0"/>
          </a:p>
        </p:txBody>
      </p:sp>
      <p:sp>
        <p:nvSpPr>
          <p:cNvPr id="12" name="Shape 10"/>
          <p:cNvSpPr/>
          <p:nvPr/>
        </p:nvSpPr>
        <p:spPr>
          <a:xfrm>
            <a:off x="3621024" y="2167128"/>
            <a:ext cx="1261872" cy="0"/>
          </a:xfrm>
          <a:prstGeom prst="line">
            <a:avLst/>
          </a:prstGeom>
          <a:noFill/>
          <a:ln w="22860">
            <a:solidFill>
              <a:srgbClr val="D9E2E8"/>
            </a:solidFill>
            <a:prstDash val="solid"/>
            <a:headEnd type="none"/>
            <a:tailEnd type="triangle"/>
          </a:ln>
        </p:spPr>
      </p:sp>
      <p:sp>
        <p:nvSpPr>
          <p:cNvPr id="13" name="Text 11"/>
          <p:cNvSpPr/>
          <p:nvPr/>
        </p:nvSpPr>
        <p:spPr>
          <a:xfrm>
            <a:off x="2761488" y="2651760"/>
            <a:ext cx="1417320"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1B2B"/>
                </a:solidFill>
                <a:latin typeface="Arial" pitchFamily="34" charset="0"/>
                <a:ea typeface="Arial" pitchFamily="34" charset="-122"/>
                <a:cs typeface="Arial" pitchFamily="34" charset="-120"/>
              </a:rPr>
              <a:t>Create</a:t>
            </a:r>
            <a:endParaRPr lang="en-US" sz="1600" dirty="0"/>
          </a:p>
        </p:txBody>
      </p:sp>
      <p:sp>
        <p:nvSpPr>
          <p:cNvPr id="14" name="Text 12"/>
          <p:cNvSpPr/>
          <p:nvPr/>
        </p:nvSpPr>
        <p:spPr>
          <a:xfrm>
            <a:off x="2688336" y="3090672"/>
            <a:ext cx="1572768" cy="475488"/>
          </a:xfrm>
          <a:prstGeom prst="rect">
            <a:avLst/>
          </a:prstGeom>
          <a:noFill/>
          <a:ln/>
        </p:spPr>
        <p:txBody>
          <a:bodyPr wrap="square" lIns="0" tIns="0" rIns="0" bIns="0" rtlCol="0" anchor="t">
            <a:normAutofit/>
          </a:bodyPr>
          <a:lstStyle/>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Tạo order /</a:t>
            </a:r>
            <a:endParaRPr lang="en-US" sz="1100" dirty="0"/>
          </a:p>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booking</a:t>
            </a:r>
            <a:endParaRPr lang="en-US" sz="1100" dirty="0"/>
          </a:p>
        </p:txBody>
      </p:sp>
      <p:sp>
        <p:nvSpPr>
          <p:cNvPr id="15" name="Shape 13"/>
          <p:cNvSpPr/>
          <p:nvPr/>
        </p:nvSpPr>
        <p:spPr>
          <a:xfrm>
            <a:off x="5212080" y="1883664"/>
            <a:ext cx="566928" cy="566928"/>
          </a:xfrm>
          <a:prstGeom prst="ellipse">
            <a:avLst/>
          </a:prstGeom>
          <a:solidFill>
            <a:srgbClr val="FFF2CF"/>
          </a:solidFill>
          <a:ln w="12700">
            <a:solidFill>
              <a:srgbClr val="FFF2CF">
                <a:alpha val="0"/>
              </a:srgbClr>
            </a:solidFill>
            <a:prstDash val="solid"/>
          </a:ln>
        </p:spPr>
      </p:sp>
      <p:sp>
        <p:nvSpPr>
          <p:cNvPr id="16" name="Text 14"/>
          <p:cNvSpPr/>
          <p:nvPr/>
        </p:nvSpPr>
        <p:spPr>
          <a:xfrm>
            <a:off x="5212080" y="1984248"/>
            <a:ext cx="566928"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9A6400"/>
                </a:solidFill>
                <a:latin typeface="Arial" pitchFamily="34" charset="0"/>
                <a:ea typeface="Arial" pitchFamily="34" charset="-122"/>
                <a:cs typeface="Arial" pitchFamily="34" charset="-120"/>
              </a:rPr>
              <a:t>03</a:t>
            </a:r>
            <a:endParaRPr lang="en-US" sz="1100" dirty="0"/>
          </a:p>
        </p:txBody>
      </p:sp>
      <p:sp>
        <p:nvSpPr>
          <p:cNvPr id="17" name="Shape 15"/>
          <p:cNvSpPr/>
          <p:nvPr/>
        </p:nvSpPr>
        <p:spPr>
          <a:xfrm>
            <a:off x="5888736" y="2167128"/>
            <a:ext cx="1261872" cy="0"/>
          </a:xfrm>
          <a:prstGeom prst="line">
            <a:avLst/>
          </a:prstGeom>
          <a:noFill/>
          <a:ln w="22860">
            <a:solidFill>
              <a:srgbClr val="D9E2E8"/>
            </a:solidFill>
            <a:prstDash val="solid"/>
            <a:headEnd type="none"/>
            <a:tailEnd type="triangle"/>
          </a:ln>
        </p:spPr>
      </p:sp>
      <p:sp>
        <p:nvSpPr>
          <p:cNvPr id="18" name="Text 16"/>
          <p:cNvSpPr/>
          <p:nvPr/>
        </p:nvSpPr>
        <p:spPr>
          <a:xfrm>
            <a:off x="5029200" y="2651760"/>
            <a:ext cx="1417320"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1B2B"/>
                </a:solidFill>
                <a:latin typeface="Arial" pitchFamily="34" charset="0"/>
                <a:ea typeface="Arial" pitchFamily="34" charset="-122"/>
                <a:cs typeface="Arial" pitchFamily="34" charset="-120"/>
              </a:rPr>
              <a:t>Match</a:t>
            </a:r>
            <a:endParaRPr lang="en-US" sz="1600" dirty="0"/>
          </a:p>
        </p:txBody>
      </p:sp>
      <p:sp>
        <p:nvSpPr>
          <p:cNvPr id="19" name="Text 17"/>
          <p:cNvSpPr/>
          <p:nvPr/>
        </p:nvSpPr>
        <p:spPr>
          <a:xfrm>
            <a:off x="4956048" y="3090672"/>
            <a:ext cx="1572768" cy="475488"/>
          </a:xfrm>
          <a:prstGeom prst="rect">
            <a:avLst/>
          </a:prstGeom>
          <a:noFill/>
          <a:ln/>
        </p:spPr>
        <p:txBody>
          <a:bodyPr wrap="square" lIns="0" tIns="0" rIns="0" bIns="0" rtlCol="0" anchor="t">
            <a:normAutofit/>
          </a:bodyPr>
          <a:lstStyle/>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Offer → accept</a:t>
            </a:r>
            <a:endParaRPr lang="en-US" sz="1100" dirty="0"/>
          </a:p>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assignment</a:t>
            </a:r>
            <a:endParaRPr lang="en-US" sz="1100" dirty="0"/>
          </a:p>
        </p:txBody>
      </p:sp>
      <p:sp>
        <p:nvSpPr>
          <p:cNvPr id="20" name="Shape 18"/>
          <p:cNvSpPr/>
          <p:nvPr/>
        </p:nvSpPr>
        <p:spPr>
          <a:xfrm>
            <a:off x="7479792" y="1883664"/>
            <a:ext cx="566928" cy="566928"/>
          </a:xfrm>
          <a:prstGeom prst="ellipse">
            <a:avLst/>
          </a:prstGeom>
          <a:solidFill>
            <a:srgbClr val="FFE4DE"/>
          </a:solidFill>
          <a:ln w="12700">
            <a:solidFill>
              <a:srgbClr val="FFE4DE">
                <a:alpha val="0"/>
              </a:srgbClr>
            </a:solidFill>
            <a:prstDash val="solid"/>
          </a:ln>
        </p:spPr>
      </p:sp>
      <p:sp>
        <p:nvSpPr>
          <p:cNvPr id="21" name="Text 19"/>
          <p:cNvSpPr/>
          <p:nvPr/>
        </p:nvSpPr>
        <p:spPr>
          <a:xfrm>
            <a:off x="7479792" y="1984248"/>
            <a:ext cx="566928"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A34537"/>
                </a:solidFill>
                <a:latin typeface="Arial" pitchFamily="34" charset="0"/>
                <a:ea typeface="Arial" pitchFamily="34" charset="-122"/>
                <a:cs typeface="Arial" pitchFamily="34" charset="-120"/>
              </a:rPr>
              <a:t>04</a:t>
            </a:r>
            <a:endParaRPr lang="en-US" sz="1100" dirty="0"/>
          </a:p>
        </p:txBody>
      </p:sp>
      <p:sp>
        <p:nvSpPr>
          <p:cNvPr id="22" name="Shape 20"/>
          <p:cNvSpPr/>
          <p:nvPr/>
        </p:nvSpPr>
        <p:spPr>
          <a:xfrm>
            <a:off x="8156448" y="2167128"/>
            <a:ext cx="1261872" cy="0"/>
          </a:xfrm>
          <a:prstGeom prst="line">
            <a:avLst/>
          </a:prstGeom>
          <a:noFill/>
          <a:ln w="22860">
            <a:solidFill>
              <a:srgbClr val="D9E2E8"/>
            </a:solidFill>
            <a:prstDash val="solid"/>
            <a:headEnd type="none"/>
            <a:tailEnd type="triangle"/>
          </a:ln>
        </p:spPr>
      </p:sp>
      <p:sp>
        <p:nvSpPr>
          <p:cNvPr id="23" name="Text 21"/>
          <p:cNvSpPr/>
          <p:nvPr/>
        </p:nvSpPr>
        <p:spPr>
          <a:xfrm>
            <a:off x="7296912" y="2651760"/>
            <a:ext cx="1417320"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1B2B"/>
                </a:solidFill>
                <a:latin typeface="Arial" pitchFamily="34" charset="0"/>
                <a:ea typeface="Arial" pitchFamily="34" charset="-122"/>
                <a:cs typeface="Arial" pitchFamily="34" charset="-120"/>
              </a:rPr>
              <a:t>Execute</a:t>
            </a:r>
            <a:endParaRPr lang="en-US" sz="1600" dirty="0"/>
          </a:p>
        </p:txBody>
      </p:sp>
      <p:sp>
        <p:nvSpPr>
          <p:cNvPr id="24" name="Text 22"/>
          <p:cNvSpPr/>
          <p:nvPr/>
        </p:nvSpPr>
        <p:spPr>
          <a:xfrm>
            <a:off x="7223760" y="3090672"/>
            <a:ext cx="1572768" cy="475488"/>
          </a:xfrm>
          <a:prstGeom prst="rect">
            <a:avLst/>
          </a:prstGeom>
          <a:noFill/>
          <a:ln/>
        </p:spPr>
        <p:txBody>
          <a:bodyPr wrap="square" lIns="0" tIns="0" rIns="0" bIns="0" rtlCol="0" anchor="t">
            <a:normAutofit/>
          </a:bodyPr>
          <a:lstStyle/>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GPS + evidence</a:t>
            </a:r>
            <a:endParaRPr lang="en-US" sz="1100" dirty="0"/>
          </a:p>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state transition</a:t>
            </a:r>
            <a:endParaRPr lang="en-US" sz="1100" dirty="0"/>
          </a:p>
        </p:txBody>
      </p:sp>
      <p:sp>
        <p:nvSpPr>
          <p:cNvPr id="25" name="Shape 23"/>
          <p:cNvSpPr/>
          <p:nvPr/>
        </p:nvSpPr>
        <p:spPr>
          <a:xfrm>
            <a:off x="9747504" y="1883664"/>
            <a:ext cx="566928" cy="566928"/>
          </a:xfrm>
          <a:prstGeom prst="ellipse">
            <a:avLst/>
          </a:prstGeom>
          <a:solidFill>
            <a:srgbClr val="EEEAFE"/>
          </a:solidFill>
          <a:ln w="12700">
            <a:solidFill>
              <a:srgbClr val="EEEAFE">
                <a:alpha val="0"/>
              </a:srgbClr>
            </a:solidFill>
            <a:prstDash val="solid"/>
          </a:ln>
        </p:spPr>
      </p:sp>
      <p:sp>
        <p:nvSpPr>
          <p:cNvPr id="26" name="Text 24"/>
          <p:cNvSpPr/>
          <p:nvPr/>
        </p:nvSpPr>
        <p:spPr>
          <a:xfrm>
            <a:off x="9747504" y="1984248"/>
            <a:ext cx="566928"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7667D9"/>
                </a:solidFill>
                <a:latin typeface="Arial" pitchFamily="34" charset="0"/>
                <a:ea typeface="Arial" pitchFamily="34" charset="-122"/>
                <a:cs typeface="Arial" pitchFamily="34" charset="-120"/>
              </a:rPr>
              <a:t>05</a:t>
            </a:r>
            <a:endParaRPr lang="en-US" sz="1100" dirty="0"/>
          </a:p>
        </p:txBody>
      </p:sp>
      <p:sp>
        <p:nvSpPr>
          <p:cNvPr id="27" name="Text 25"/>
          <p:cNvSpPr/>
          <p:nvPr/>
        </p:nvSpPr>
        <p:spPr>
          <a:xfrm>
            <a:off x="9564624" y="2651760"/>
            <a:ext cx="1417320" cy="256032"/>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B1B2B"/>
                </a:solidFill>
                <a:latin typeface="Arial" pitchFamily="34" charset="0"/>
                <a:ea typeface="Arial" pitchFamily="34" charset="-122"/>
                <a:cs typeface="Arial" pitchFamily="34" charset="-120"/>
              </a:rPr>
              <a:t>Settle</a:t>
            </a:r>
            <a:endParaRPr lang="en-US" sz="1600" dirty="0"/>
          </a:p>
        </p:txBody>
      </p:sp>
      <p:sp>
        <p:nvSpPr>
          <p:cNvPr id="28" name="Text 26"/>
          <p:cNvSpPr/>
          <p:nvPr/>
        </p:nvSpPr>
        <p:spPr>
          <a:xfrm>
            <a:off x="9491472" y="3090672"/>
            <a:ext cx="1572768" cy="475488"/>
          </a:xfrm>
          <a:prstGeom prst="rect">
            <a:avLst/>
          </a:prstGeom>
          <a:noFill/>
          <a:ln/>
        </p:spPr>
        <p:txBody>
          <a:bodyPr wrap="square" lIns="0" tIns="0" rIns="0" bIns="0" rtlCol="0" anchor="t">
            <a:normAutofit/>
          </a:bodyPr>
          <a:lstStyle/>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Wallet / cash</a:t>
            </a:r>
            <a:endParaRPr lang="en-US" sz="1100" dirty="0"/>
          </a:p>
          <a:p>
            <a:pPr algn="ctr" indent="0" marL="0">
              <a:lnSpc>
                <a:spcPct val="100000"/>
              </a:lnSpc>
              <a:buNone/>
            </a:pPr>
            <a:r>
              <a:rPr lang="en-US" sz="1100" dirty="0">
                <a:solidFill>
                  <a:srgbClr val="617180"/>
                </a:solidFill>
                <a:latin typeface="Arial" pitchFamily="34" charset="0"/>
                <a:ea typeface="Arial" pitchFamily="34" charset="-122"/>
                <a:cs typeface="Arial" pitchFamily="34" charset="-120"/>
              </a:rPr>
              <a:t>receipt + rating</a:t>
            </a:r>
            <a:endParaRPr lang="en-US" sz="1100" dirty="0"/>
          </a:p>
        </p:txBody>
      </p:sp>
      <p:sp>
        <p:nvSpPr>
          <p:cNvPr id="29" name="Shape 27"/>
          <p:cNvSpPr/>
          <p:nvPr/>
        </p:nvSpPr>
        <p:spPr>
          <a:xfrm>
            <a:off x="676656" y="4251960"/>
            <a:ext cx="5303520" cy="1170432"/>
          </a:xfrm>
          <a:prstGeom prst="roundRect">
            <a:avLst>
              <a:gd name="adj" fmla="val 6250"/>
            </a:avLst>
          </a:prstGeom>
          <a:solidFill>
            <a:srgbClr val="0B1B2B"/>
          </a:solidFill>
          <a:ln w="8890">
            <a:solidFill>
              <a:srgbClr val="0B1B2B"/>
            </a:solidFill>
            <a:prstDash val="solid"/>
          </a:ln>
        </p:spPr>
      </p:sp>
      <p:sp>
        <p:nvSpPr>
          <p:cNvPr id="30" name="Text 28"/>
          <p:cNvSpPr/>
          <p:nvPr/>
        </p:nvSpPr>
        <p:spPr>
          <a:xfrm>
            <a:off x="932688" y="4462272"/>
            <a:ext cx="1051560" cy="20116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8C98B"/>
                </a:solidFill>
                <a:latin typeface="Arial" pitchFamily="34" charset="0"/>
                <a:ea typeface="Arial" pitchFamily="34" charset="-122"/>
                <a:cs typeface="Arial" pitchFamily="34" charset="-120"/>
              </a:rPr>
              <a:t>Delivery</a:t>
            </a:r>
            <a:endParaRPr lang="en-US" sz="1500" dirty="0"/>
          </a:p>
        </p:txBody>
      </p:sp>
      <p:sp>
        <p:nvSpPr>
          <p:cNvPr id="31" name="Text 29"/>
          <p:cNvSpPr/>
          <p:nvPr/>
        </p:nvSpPr>
        <p:spPr>
          <a:xfrm>
            <a:off x="2048256" y="4407408"/>
            <a:ext cx="3602736" cy="329184"/>
          </a:xfrm>
          <a:prstGeom prst="rect">
            <a:avLst/>
          </a:prstGeom>
          <a:noFill/>
          <a:ln/>
        </p:spPr>
        <p:txBody>
          <a:bodyPr wrap="square" lIns="0" tIns="0" rIns="0" bIns="0" rtlCol="0" anchor="ctr">
            <a:normAutofit/>
          </a:bodyPr>
          <a:lstStyle/>
          <a:p>
            <a:pPr algn="l" indent="0" marL="0">
              <a:lnSpc>
                <a:spcPct val="100000"/>
              </a:lnSpc>
              <a:buNone/>
            </a:pPr>
            <a:r>
              <a:rPr lang="en-US" sz="1020" b="1" dirty="0">
                <a:solidFill>
                  <a:srgbClr val="FFFFFF"/>
                </a:solidFill>
                <a:latin typeface="Arial" pitchFamily="34" charset="0"/>
                <a:ea typeface="Arial" pitchFamily="34" charset="-122"/>
                <a:cs typeface="Arial" pitchFamily="34" charset="-120"/>
              </a:rPr>
              <a:t>SEARCHING → ASSIGNED → PICKED_UP → IN_DELIVERY → DELIVERED / RETURNED</a:t>
            </a:r>
            <a:endParaRPr lang="en-US" sz="1020" dirty="0"/>
          </a:p>
        </p:txBody>
      </p:sp>
      <p:sp>
        <p:nvSpPr>
          <p:cNvPr id="32" name="Text 30"/>
          <p:cNvSpPr/>
          <p:nvPr/>
        </p:nvSpPr>
        <p:spPr>
          <a:xfrm>
            <a:off x="932688" y="4892040"/>
            <a:ext cx="4663440" cy="18288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B9C9D5"/>
                </a:solidFill>
                <a:latin typeface="Arial" pitchFamily="34" charset="0"/>
                <a:ea typeface="Arial" pitchFamily="34" charset="-122"/>
                <a:cs typeface="Arial" pitchFamily="34" charset="-120"/>
              </a:rPr>
              <a:t>Bằng chứng: geofence • người nhận xác nhận • ảnh / checksum</a:t>
            </a:r>
            <a:endParaRPr lang="en-US" sz="940" dirty="0"/>
          </a:p>
        </p:txBody>
      </p:sp>
      <p:sp>
        <p:nvSpPr>
          <p:cNvPr id="33" name="Shape 31"/>
          <p:cNvSpPr/>
          <p:nvPr/>
        </p:nvSpPr>
        <p:spPr>
          <a:xfrm>
            <a:off x="6199632" y="4251960"/>
            <a:ext cx="5303520" cy="1170432"/>
          </a:xfrm>
          <a:prstGeom prst="roundRect">
            <a:avLst>
              <a:gd name="adj" fmla="val 6250"/>
            </a:avLst>
          </a:prstGeom>
          <a:solidFill>
            <a:srgbClr val="FFFFFF"/>
          </a:solidFill>
          <a:ln w="8890">
            <a:solidFill>
              <a:srgbClr val="D9E2E8"/>
            </a:solidFill>
            <a:prstDash val="solid"/>
          </a:ln>
        </p:spPr>
      </p:sp>
      <p:sp>
        <p:nvSpPr>
          <p:cNvPr id="34" name="Text 32"/>
          <p:cNvSpPr/>
          <p:nvPr/>
        </p:nvSpPr>
        <p:spPr>
          <a:xfrm>
            <a:off x="6455664" y="4462272"/>
            <a:ext cx="1051560" cy="201168"/>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0E8F82"/>
                </a:solidFill>
                <a:latin typeface="Arial" pitchFamily="34" charset="0"/>
                <a:ea typeface="Arial" pitchFamily="34" charset="-122"/>
                <a:cs typeface="Arial" pitchFamily="34" charset="-120"/>
              </a:rPr>
              <a:t>Drive</a:t>
            </a:r>
            <a:endParaRPr lang="en-US" sz="1500" dirty="0"/>
          </a:p>
        </p:txBody>
      </p:sp>
      <p:sp>
        <p:nvSpPr>
          <p:cNvPr id="35" name="Text 33"/>
          <p:cNvSpPr/>
          <p:nvPr/>
        </p:nvSpPr>
        <p:spPr>
          <a:xfrm>
            <a:off x="7571232" y="4407408"/>
            <a:ext cx="3602736" cy="329184"/>
          </a:xfrm>
          <a:prstGeom prst="rect">
            <a:avLst/>
          </a:prstGeom>
          <a:noFill/>
          <a:ln/>
        </p:spPr>
        <p:txBody>
          <a:bodyPr wrap="square" lIns="0" tIns="0" rIns="0" bIns="0" rtlCol="0" anchor="ctr">
            <a:normAutofit/>
          </a:bodyPr>
          <a:lstStyle/>
          <a:p>
            <a:pPr algn="l" indent="0" marL="0">
              <a:lnSpc>
                <a:spcPct val="100000"/>
              </a:lnSpc>
              <a:buNone/>
            </a:pPr>
            <a:r>
              <a:rPr lang="en-US" sz="1020" b="1" dirty="0">
                <a:solidFill>
                  <a:srgbClr val="0B1B2B"/>
                </a:solidFill>
                <a:latin typeface="Arial" pitchFamily="34" charset="0"/>
                <a:ea typeface="Arial" pitchFamily="34" charset="-122"/>
                <a:cs typeface="Arial" pitchFamily="34" charset="-120"/>
              </a:rPr>
              <a:t>SEARCHING → ASSIGNED → ARRIVING → ARRIVED → IN_TRIP → COMPLETED</a:t>
            </a:r>
            <a:endParaRPr lang="en-US" sz="1020" dirty="0"/>
          </a:p>
        </p:txBody>
      </p:sp>
      <p:sp>
        <p:nvSpPr>
          <p:cNvPr id="36" name="Text 34"/>
          <p:cNvSpPr/>
          <p:nvPr/>
        </p:nvSpPr>
        <p:spPr>
          <a:xfrm>
            <a:off x="6455664" y="4892040"/>
            <a:ext cx="4663440" cy="182880"/>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617180"/>
                </a:solidFill>
                <a:latin typeface="Arial" pitchFamily="34" charset="0"/>
                <a:ea typeface="Arial" pitchFamily="34" charset="-122"/>
                <a:cs typeface="Arial" pitchFamily="34" charset="-120"/>
              </a:rPr>
              <a:t>Bằng chứng: GPS snapshot • ETA • xác nhận đón / kết thúc</a:t>
            </a:r>
            <a:endParaRPr lang="en-US" sz="940" dirty="0"/>
          </a:p>
        </p:txBody>
      </p:sp>
      <p:sp>
        <p:nvSpPr>
          <p:cNvPr id="37" name="Shape 35"/>
          <p:cNvSpPr/>
          <p:nvPr/>
        </p:nvSpPr>
        <p:spPr>
          <a:xfrm>
            <a:off x="676656" y="5669280"/>
            <a:ext cx="10826496" cy="384048"/>
          </a:xfrm>
          <a:prstGeom prst="roundRect">
            <a:avLst>
              <a:gd name="adj" fmla="val 19048"/>
            </a:avLst>
          </a:prstGeom>
          <a:solidFill>
            <a:srgbClr val="DDF8EE"/>
          </a:solidFill>
          <a:ln w="12700">
            <a:solidFill>
              <a:srgbClr val="DDF8EE">
                <a:alpha val="0"/>
              </a:srgbClr>
            </a:solidFill>
            <a:prstDash val="solid"/>
          </a:ln>
        </p:spPr>
      </p:sp>
      <p:sp>
        <p:nvSpPr>
          <p:cNvPr id="38" name="Text 36"/>
          <p:cNvSpPr/>
          <p:nvPr/>
        </p:nvSpPr>
        <p:spPr>
          <a:xfrm>
            <a:off x="896112" y="5769864"/>
            <a:ext cx="10378440" cy="16459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06B57"/>
                </a:solidFill>
                <a:latin typeface="Arial" pitchFamily="34" charset="0"/>
                <a:ea typeface="Arial" pitchFamily="34" charset="-122"/>
                <a:cs typeface="Arial" pitchFamily="34" charset="-120"/>
              </a:rPr>
              <a:t>Nguyên tắc: server quyết định trạng thái; command lặp lại phải idempotent.</a:t>
            </a:r>
            <a:endParaRPr lang="en-US" sz="1100" dirty="0"/>
          </a:p>
        </p:txBody>
      </p:sp>
      <p:sp>
        <p:nvSpPr>
          <p:cNvPr id="39" name="Shape 37"/>
          <p:cNvSpPr/>
          <p:nvPr/>
        </p:nvSpPr>
        <p:spPr>
          <a:xfrm>
            <a:off x="502920" y="6419088"/>
            <a:ext cx="11155680" cy="0"/>
          </a:xfrm>
          <a:prstGeom prst="line">
            <a:avLst/>
          </a:prstGeom>
          <a:noFill/>
          <a:ln w="8255">
            <a:solidFill>
              <a:srgbClr val="D9E2E8"/>
            </a:solidFill>
            <a:prstDash val="solid"/>
            <a:headEnd type="none"/>
            <a:tailEnd type="none"/>
          </a:ln>
        </p:spPr>
      </p:sp>
      <p:sp>
        <p:nvSpPr>
          <p:cNvPr id="40" name="Text 38"/>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docs/flows/03–10 • docs/00-tong-quan.md</a:t>
            </a:r>
            <a:endParaRPr lang="en-US" sz="750" dirty="0"/>
          </a:p>
        </p:txBody>
      </p:sp>
      <p:sp>
        <p:nvSpPr>
          <p:cNvPr id="41" name="Text 39"/>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05</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566928" y="384048"/>
            <a:ext cx="274320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18C98B"/>
                </a:solidFill>
                <a:latin typeface="Arial" pitchFamily="34" charset="0"/>
                <a:ea typeface="Arial" pitchFamily="34" charset="-122"/>
                <a:cs typeface="Arial" pitchFamily="34" charset="-120"/>
              </a:rPr>
              <a:t>05 • KIẾN TRÚC</a:t>
            </a:r>
            <a:endParaRPr lang="en-US" sz="900" dirty="0"/>
          </a:p>
        </p:txBody>
      </p:sp>
      <p:sp>
        <p:nvSpPr>
          <p:cNvPr id="3" name="Text 1"/>
          <p:cNvSpPr/>
          <p:nvPr/>
        </p:nvSpPr>
        <p:spPr>
          <a:xfrm>
            <a:off x="566928" y="658368"/>
            <a:ext cx="9966960" cy="493776"/>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FFFFFF"/>
                </a:solidFill>
                <a:latin typeface="Arial" pitchFamily="34" charset="0"/>
                <a:ea typeface="Arial" pitchFamily="34" charset="-122"/>
                <a:cs typeface="Arial" pitchFamily="34" charset="-120"/>
              </a:rPr>
              <a:t>Tách nghiệp vụ, realtime và dữ liệu chuẩn</a:t>
            </a:r>
            <a:endParaRPr lang="en-US" sz="2800" dirty="0"/>
          </a:p>
        </p:txBody>
      </p:sp>
      <p:sp>
        <p:nvSpPr>
          <p:cNvPr id="4" name="Text 2"/>
          <p:cNvSpPr/>
          <p:nvPr/>
        </p:nvSpPr>
        <p:spPr>
          <a:xfrm>
            <a:off x="585216" y="1234440"/>
            <a:ext cx="10698480" cy="27432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B9C9D5"/>
                </a:solidFill>
                <a:latin typeface="Arial" pitchFamily="34" charset="0"/>
                <a:ea typeface="Arial" pitchFamily="34" charset="-122"/>
                <a:cs typeface="Arial" pitchFamily="34" charset="-120"/>
              </a:rPr>
              <a:t>Laravel giữ quyền quyết định; Node.js vận chuyển event; Redis chỉ giữ trạng thái ngắn hạn.</a:t>
            </a:r>
            <a:endParaRPr lang="en-US" sz="1200" dirty="0"/>
          </a:p>
        </p:txBody>
      </p:sp>
      <p:sp>
        <p:nvSpPr>
          <p:cNvPr id="5" name="Shape 3"/>
          <p:cNvSpPr/>
          <p:nvPr/>
        </p:nvSpPr>
        <p:spPr>
          <a:xfrm>
            <a:off x="713232" y="1965960"/>
            <a:ext cx="1938528" cy="1033272"/>
          </a:xfrm>
          <a:prstGeom prst="roundRect">
            <a:avLst>
              <a:gd name="adj" fmla="val 7080"/>
            </a:avLst>
          </a:prstGeom>
          <a:solidFill>
            <a:srgbClr val="13283B"/>
          </a:solidFill>
          <a:ln w="8890">
            <a:solidFill>
              <a:srgbClr val="29445A"/>
            </a:solidFill>
            <a:prstDash val="solid"/>
          </a:ln>
        </p:spPr>
      </p:sp>
      <p:sp>
        <p:nvSpPr>
          <p:cNvPr id="6" name="Text 4"/>
          <p:cNvSpPr/>
          <p:nvPr/>
        </p:nvSpPr>
        <p:spPr>
          <a:xfrm>
            <a:off x="896112" y="2212848"/>
            <a:ext cx="1572768" cy="18288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18C98B"/>
                </a:solidFill>
                <a:latin typeface="Arial" pitchFamily="34" charset="0"/>
                <a:ea typeface="Arial" pitchFamily="34" charset="-122"/>
                <a:cs typeface="Arial" pitchFamily="34" charset="-120"/>
              </a:rPr>
              <a:t>CUSTOMER APP</a:t>
            </a:r>
            <a:endParaRPr lang="en-US" sz="1200" dirty="0"/>
          </a:p>
        </p:txBody>
      </p:sp>
      <p:sp>
        <p:nvSpPr>
          <p:cNvPr id="7" name="Text 5"/>
          <p:cNvSpPr/>
          <p:nvPr/>
        </p:nvSpPr>
        <p:spPr>
          <a:xfrm>
            <a:off x="896112" y="2487168"/>
            <a:ext cx="1572768" cy="182880"/>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B9C9D5"/>
                </a:solidFill>
                <a:latin typeface="Arial" pitchFamily="34" charset="0"/>
                <a:ea typeface="Arial" pitchFamily="34" charset="-122"/>
                <a:cs typeface="Arial" pitchFamily="34" charset="-120"/>
              </a:rPr>
              <a:t>Flutter • HTTPS + Socket.IO</a:t>
            </a:r>
            <a:endParaRPr lang="en-US" sz="900" dirty="0"/>
          </a:p>
        </p:txBody>
      </p:sp>
      <p:sp>
        <p:nvSpPr>
          <p:cNvPr id="8" name="Shape 6"/>
          <p:cNvSpPr/>
          <p:nvPr/>
        </p:nvSpPr>
        <p:spPr>
          <a:xfrm>
            <a:off x="713232" y="3429000"/>
            <a:ext cx="1938528" cy="1033272"/>
          </a:xfrm>
          <a:prstGeom prst="roundRect">
            <a:avLst>
              <a:gd name="adj" fmla="val 7080"/>
            </a:avLst>
          </a:prstGeom>
          <a:solidFill>
            <a:srgbClr val="13283B"/>
          </a:solidFill>
          <a:ln w="8890">
            <a:solidFill>
              <a:srgbClr val="29445A"/>
            </a:solidFill>
            <a:prstDash val="solid"/>
          </a:ln>
        </p:spPr>
      </p:sp>
      <p:sp>
        <p:nvSpPr>
          <p:cNvPr id="9" name="Text 7"/>
          <p:cNvSpPr/>
          <p:nvPr/>
        </p:nvSpPr>
        <p:spPr>
          <a:xfrm>
            <a:off x="896112" y="3675888"/>
            <a:ext cx="1572768" cy="18288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4B942"/>
                </a:solidFill>
                <a:latin typeface="Arial" pitchFamily="34" charset="0"/>
                <a:ea typeface="Arial" pitchFamily="34" charset="-122"/>
                <a:cs typeface="Arial" pitchFamily="34" charset="-120"/>
              </a:rPr>
              <a:t>DRIVER APP</a:t>
            </a:r>
            <a:endParaRPr lang="en-US" sz="1200" dirty="0"/>
          </a:p>
        </p:txBody>
      </p:sp>
      <p:sp>
        <p:nvSpPr>
          <p:cNvPr id="10" name="Text 8"/>
          <p:cNvSpPr/>
          <p:nvPr/>
        </p:nvSpPr>
        <p:spPr>
          <a:xfrm>
            <a:off x="896112" y="3950208"/>
            <a:ext cx="1572768" cy="182880"/>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B9C9D5"/>
                </a:solidFill>
                <a:latin typeface="Arial" pitchFamily="34" charset="0"/>
                <a:ea typeface="Arial" pitchFamily="34" charset="-122"/>
                <a:cs typeface="Arial" pitchFamily="34" charset="-120"/>
              </a:rPr>
              <a:t>Flutter • GPS heartbeat</a:t>
            </a:r>
            <a:endParaRPr lang="en-US" sz="900" dirty="0"/>
          </a:p>
        </p:txBody>
      </p:sp>
      <p:sp>
        <p:nvSpPr>
          <p:cNvPr id="11" name="Shape 9"/>
          <p:cNvSpPr/>
          <p:nvPr/>
        </p:nvSpPr>
        <p:spPr>
          <a:xfrm>
            <a:off x="3246120" y="2331720"/>
            <a:ext cx="2468880" cy="1828800"/>
          </a:xfrm>
          <a:prstGeom prst="roundRect">
            <a:avLst>
              <a:gd name="adj" fmla="val 4000"/>
            </a:avLst>
          </a:prstGeom>
          <a:solidFill>
            <a:srgbClr val="18C98B"/>
          </a:solidFill>
          <a:ln w="8890">
            <a:solidFill>
              <a:srgbClr val="18C98B"/>
            </a:solidFill>
            <a:prstDash val="solid"/>
          </a:ln>
        </p:spPr>
      </p:sp>
      <p:sp>
        <p:nvSpPr>
          <p:cNvPr id="12" name="Text 10"/>
          <p:cNvSpPr/>
          <p:nvPr/>
        </p:nvSpPr>
        <p:spPr>
          <a:xfrm>
            <a:off x="3493008" y="2633472"/>
            <a:ext cx="1975104" cy="228600"/>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0B1B2B"/>
                </a:solidFill>
                <a:latin typeface="Arial" pitchFamily="34" charset="0"/>
                <a:ea typeface="Arial" pitchFamily="34" charset="-122"/>
                <a:cs typeface="Arial" pitchFamily="34" charset="-120"/>
              </a:rPr>
              <a:t>LARAVEL WORKER</a:t>
            </a:r>
            <a:endParaRPr lang="en-US" sz="1400" dirty="0"/>
          </a:p>
        </p:txBody>
      </p:sp>
      <p:sp>
        <p:nvSpPr>
          <p:cNvPr id="13" name="Text 11"/>
          <p:cNvSpPr/>
          <p:nvPr/>
        </p:nvSpPr>
        <p:spPr>
          <a:xfrm>
            <a:off x="3511296" y="3063240"/>
            <a:ext cx="1938528" cy="694944"/>
          </a:xfrm>
          <a:prstGeom prst="rect">
            <a:avLst/>
          </a:prstGeom>
          <a:noFill/>
          <a:ln/>
        </p:spPr>
        <p:txBody>
          <a:bodyPr wrap="square" lIns="0" tIns="0" rIns="0" bIns="0" rtlCol="0" anchor="t">
            <a:normAutofit/>
          </a:bodyPr>
          <a:lstStyle/>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API • auth • state machine</a:t>
            </a:r>
            <a:endParaRPr lang="en-US" sz="1100" dirty="0"/>
          </a:p>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matching • payment • audit</a:t>
            </a:r>
            <a:endParaRPr lang="en-US" sz="1100" dirty="0"/>
          </a:p>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transactional outbox</a:t>
            </a:r>
            <a:endParaRPr lang="en-US" sz="1100" dirty="0"/>
          </a:p>
        </p:txBody>
      </p:sp>
      <p:sp>
        <p:nvSpPr>
          <p:cNvPr id="14" name="Shape 12"/>
          <p:cNvSpPr/>
          <p:nvPr/>
        </p:nvSpPr>
        <p:spPr>
          <a:xfrm>
            <a:off x="6400800" y="2331720"/>
            <a:ext cx="2121408" cy="1828800"/>
          </a:xfrm>
          <a:prstGeom prst="roundRect">
            <a:avLst>
              <a:gd name="adj" fmla="val 4000"/>
            </a:avLst>
          </a:prstGeom>
          <a:solidFill>
            <a:srgbClr val="0E8F82"/>
          </a:solidFill>
          <a:ln w="8890">
            <a:solidFill>
              <a:srgbClr val="0E8F82"/>
            </a:solidFill>
            <a:prstDash val="solid"/>
          </a:ln>
        </p:spPr>
      </p:sp>
      <p:sp>
        <p:nvSpPr>
          <p:cNvPr id="15" name="Text 13"/>
          <p:cNvSpPr/>
          <p:nvPr/>
        </p:nvSpPr>
        <p:spPr>
          <a:xfrm>
            <a:off x="6601968" y="2633472"/>
            <a:ext cx="1719072" cy="228600"/>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rial" pitchFamily="34" charset="0"/>
                <a:ea typeface="Arial" pitchFamily="34" charset="-122"/>
                <a:cs typeface="Arial" pitchFamily="34" charset="-120"/>
              </a:rPr>
              <a:t>NODE.JS REALTIME</a:t>
            </a:r>
            <a:endParaRPr lang="en-US" sz="1300" dirty="0"/>
          </a:p>
        </p:txBody>
      </p:sp>
      <p:sp>
        <p:nvSpPr>
          <p:cNvPr id="16" name="Text 14"/>
          <p:cNvSpPr/>
          <p:nvPr/>
        </p:nvSpPr>
        <p:spPr>
          <a:xfrm>
            <a:off x="6656832" y="3063240"/>
            <a:ext cx="1609344" cy="658368"/>
          </a:xfrm>
          <a:prstGeom prst="rect">
            <a:avLst/>
          </a:prstGeom>
          <a:noFill/>
          <a:ln/>
        </p:spPr>
        <p:txBody>
          <a:bodyPr wrap="square" lIns="0" tIns="0" rIns="0" bIns="0" rtlCol="0" anchor="t">
            <a:normAutofit/>
          </a:bodyP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Socket.IO rooms</a:t>
            </a:r>
            <a:endParaRPr lang="en-US" sz="1100" dirty="0"/>
          </a:p>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Redis consumer</a:t>
            </a:r>
            <a:endParaRPr lang="en-US" sz="1100" dirty="0"/>
          </a:p>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push dispatch</a:t>
            </a:r>
            <a:endParaRPr lang="en-US" sz="1100" dirty="0"/>
          </a:p>
        </p:txBody>
      </p:sp>
      <p:sp>
        <p:nvSpPr>
          <p:cNvPr id="17" name="Shape 15"/>
          <p:cNvSpPr/>
          <p:nvPr/>
        </p:nvSpPr>
        <p:spPr>
          <a:xfrm>
            <a:off x="9235440" y="2029968"/>
            <a:ext cx="1965960" cy="1115568"/>
          </a:xfrm>
          <a:prstGeom prst="roundRect">
            <a:avLst>
              <a:gd name="adj" fmla="val 6557"/>
            </a:avLst>
          </a:prstGeom>
          <a:solidFill>
            <a:srgbClr val="FFFFFF"/>
          </a:solidFill>
          <a:ln w="8890">
            <a:solidFill>
              <a:srgbClr val="FFFFFF"/>
            </a:solidFill>
            <a:prstDash val="solid"/>
          </a:ln>
        </p:spPr>
      </p:sp>
      <p:sp>
        <p:nvSpPr>
          <p:cNvPr id="18" name="Text 16"/>
          <p:cNvSpPr/>
          <p:nvPr/>
        </p:nvSpPr>
        <p:spPr>
          <a:xfrm>
            <a:off x="9473184" y="2331720"/>
            <a:ext cx="1499616" cy="201168"/>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0B1B2B"/>
                </a:solidFill>
                <a:latin typeface="Arial" pitchFamily="34" charset="0"/>
                <a:ea typeface="Arial" pitchFamily="34" charset="-122"/>
                <a:cs typeface="Arial" pitchFamily="34" charset="-120"/>
              </a:rPr>
              <a:t>POSTGRESQL</a:t>
            </a:r>
            <a:endParaRPr lang="en-US" sz="1200" dirty="0"/>
          </a:p>
        </p:txBody>
      </p:sp>
      <p:sp>
        <p:nvSpPr>
          <p:cNvPr id="19" name="Text 17"/>
          <p:cNvSpPr/>
          <p:nvPr/>
        </p:nvSpPr>
        <p:spPr>
          <a:xfrm>
            <a:off x="9473184" y="2633472"/>
            <a:ext cx="1499616" cy="164592"/>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617180"/>
                </a:solidFill>
                <a:latin typeface="Arial" pitchFamily="34" charset="0"/>
                <a:ea typeface="Arial" pitchFamily="34" charset="-122"/>
                <a:cs typeface="Arial" pitchFamily="34" charset="-120"/>
              </a:rPr>
              <a:t>Nguồn dữ liệu chuẩn</a:t>
            </a:r>
            <a:endParaRPr lang="en-US" sz="950" dirty="0"/>
          </a:p>
        </p:txBody>
      </p:sp>
      <p:sp>
        <p:nvSpPr>
          <p:cNvPr id="20" name="Shape 18"/>
          <p:cNvSpPr/>
          <p:nvPr/>
        </p:nvSpPr>
        <p:spPr>
          <a:xfrm>
            <a:off x="9235440" y="3657600"/>
            <a:ext cx="1965960" cy="1115568"/>
          </a:xfrm>
          <a:prstGeom prst="roundRect">
            <a:avLst>
              <a:gd name="adj" fmla="val 6557"/>
            </a:avLst>
          </a:prstGeom>
          <a:solidFill>
            <a:srgbClr val="13283B"/>
          </a:solidFill>
          <a:ln w="8890">
            <a:solidFill>
              <a:srgbClr val="29445A"/>
            </a:solidFill>
            <a:prstDash val="solid"/>
          </a:ln>
        </p:spPr>
      </p:sp>
      <p:sp>
        <p:nvSpPr>
          <p:cNvPr id="21" name="Text 19"/>
          <p:cNvSpPr/>
          <p:nvPr/>
        </p:nvSpPr>
        <p:spPr>
          <a:xfrm>
            <a:off x="9473184" y="3959352"/>
            <a:ext cx="1499616" cy="201168"/>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18C98B"/>
                </a:solidFill>
                <a:latin typeface="Arial" pitchFamily="34" charset="0"/>
                <a:ea typeface="Arial" pitchFamily="34" charset="-122"/>
                <a:cs typeface="Arial" pitchFamily="34" charset="-120"/>
              </a:rPr>
              <a:t>REDIS</a:t>
            </a:r>
            <a:endParaRPr lang="en-US" sz="1200" dirty="0"/>
          </a:p>
        </p:txBody>
      </p:sp>
      <p:sp>
        <p:nvSpPr>
          <p:cNvPr id="22" name="Text 20"/>
          <p:cNvSpPr/>
          <p:nvPr/>
        </p:nvSpPr>
        <p:spPr>
          <a:xfrm>
            <a:off x="9473184" y="4261104"/>
            <a:ext cx="1499616" cy="164592"/>
          </a:xfrm>
          <a:prstGeom prst="rect">
            <a:avLst/>
          </a:prstGeom>
          <a:noFill/>
          <a:ln/>
        </p:spPr>
        <p:txBody>
          <a:bodyPr wrap="square" lIns="0" tIns="0" rIns="0" bIns="0" rtlCol="0" anchor="ctr">
            <a:normAutofit/>
          </a:bodyPr>
          <a:lstStyle/>
          <a:p>
            <a:pPr algn="ctr" indent="0" marL="0">
              <a:lnSpc>
                <a:spcPct val="100000"/>
              </a:lnSpc>
              <a:buNone/>
            </a:pPr>
            <a:r>
              <a:rPr lang="en-US" sz="950" dirty="0">
                <a:solidFill>
                  <a:srgbClr val="B9C9D5"/>
                </a:solidFill>
                <a:latin typeface="Arial" pitchFamily="34" charset="0"/>
                <a:ea typeface="Arial" pitchFamily="34" charset="-122"/>
                <a:cs typeface="Arial" pitchFamily="34" charset="-120"/>
              </a:rPr>
              <a:t>Queue • outbox • TTL</a:t>
            </a:r>
            <a:endParaRPr lang="en-US" sz="950" dirty="0"/>
          </a:p>
        </p:txBody>
      </p:sp>
      <p:sp>
        <p:nvSpPr>
          <p:cNvPr id="23" name="Shape 21"/>
          <p:cNvSpPr/>
          <p:nvPr/>
        </p:nvSpPr>
        <p:spPr>
          <a:xfrm>
            <a:off x="2651760" y="2468880"/>
            <a:ext cx="594360" cy="347472"/>
          </a:xfrm>
          <a:prstGeom prst="line">
            <a:avLst/>
          </a:prstGeom>
          <a:noFill/>
          <a:ln w="20320">
            <a:solidFill>
              <a:srgbClr val="18C98B"/>
            </a:solidFill>
            <a:prstDash val="solid"/>
            <a:headEnd type="none"/>
            <a:tailEnd type="triangle"/>
          </a:ln>
        </p:spPr>
      </p:sp>
      <p:sp>
        <p:nvSpPr>
          <p:cNvPr id="24" name="Shape 22"/>
          <p:cNvSpPr/>
          <p:nvPr/>
        </p:nvSpPr>
        <p:spPr>
          <a:xfrm>
            <a:off x="2651760" y="3931920"/>
            <a:ext cx="594360" cy="-274320"/>
          </a:xfrm>
          <a:prstGeom prst="line">
            <a:avLst/>
          </a:prstGeom>
          <a:noFill/>
          <a:ln w="20320">
            <a:solidFill>
              <a:srgbClr val="F4B942"/>
            </a:solidFill>
            <a:prstDash val="solid"/>
            <a:headEnd type="none"/>
            <a:tailEnd type="triangle"/>
          </a:ln>
        </p:spPr>
      </p:sp>
      <p:sp>
        <p:nvSpPr>
          <p:cNvPr id="25" name="Shape 23"/>
          <p:cNvSpPr/>
          <p:nvPr/>
        </p:nvSpPr>
        <p:spPr>
          <a:xfrm>
            <a:off x="5715000" y="2944368"/>
            <a:ext cx="685800" cy="0"/>
          </a:xfrm>
          <a:prstGeom prst="line">
            <a:avLst/>
          </a:prstGeom>
          <a:noFill/>
          <a:ln w="20320">
            <a:solidFill>
              <a:srgbClr val="FFFFFF"/>
            </a:solidFill>
            <a:prstDash val="solid"/>
            <a:headEnd type="none"/>
            <a:tailEnd type="triangle"/>
          </a:ln>
        </p:spPr>
      </p:sp>
      <p:sp>
        <p:nvSpPr>
          <p:cNvPr id="26" name="Shape 24"/>
          <p:cNvSpPr/>
          <p:nvPr/>
        </p:nvSpPr>
        <p:spPr>
          <a:xfrm>
            <a:off x="5715000" y="3474720"/>
            <a:ext cx="685800" cy="0"/>
          </a:xfrm>
          <a:prstGeom prst="line">
            <a:avLst/>
          </a:prstGeom>
          <a:noFill/>
          <a:ln w="20320">
            <a:solidFill>
              <a:srgbClr val="18C98B"/>
            </a:solidFill>
            <a:prstDash val="solid"/>
            <a:headEnd type="none"/>
            <a:tailEnd type="triangle"/>
          </a:ln>
        </p:spPr>
      </p:sp>
      <p:sp>
        <p:nvSpPr>
          <p:cNvPr id="27" name="Shape 25"/>
          <p:cNvSpPr/>
          <p:nvPr/>
        </p:nvSpPr>
        <p:spPr>
          <a:xfrm>
            <a:off x="5715000" y="3657600"/>
            <a:ext cx="3520440" cy="438912"/>
          </a:xfrm>
          <a:prstGeom prst="line">
            <a:avLst/>
          </a:prstGeom>
          <a:noFill/>
          <a:ln w="15240">
            <a:solidFill>
              <a:srgbClr val="6A8CA2"/>
            </a:solidFill>
            <a:prstDash val="dash"/>
            <a:headEnd type="none"/>
            <a:tailEnd type="triangle"/>
          </a:ln>
        </p:spPr>
      </p:sp>
      <p:sp>
        <p:nvSpPr>
          <p:cNvPr id="28" name="Shape 26"/>
          <p:cNvSpPr/>
          <p:nvPr/>
        </p:nvSpPr>
        <p:spPr>
          <a:xfrm>
            <a:off x="8522208" y="2944368"/>
            <a:ext cx="713232" cy="-356616"/>
          </a:xfrm>
          <a:prstGeom prst="line">
            <a:avLst/>
          </a:prstGeom>
          <a:noFill/>
          <a:ln w="16510">
            <a:solidFill>
              <a:srgbClr val="FFFFFF"/>
            </a:solidFill>
            <a:prstDash val="solid"/>
            <a:headEnd type="none"/>
            <a:tailEnd type="triangle"/>
          </a:ln>
        </p:spPr>
      </p:sp>
      <p:sp>
        <p:nvSpPr>
          <p:cNvPr id="29" name="Shape 27"/>
          <p:cNvSpPr/>
          <p:nvPr/>
        </p:nvSpPr>
        <p:spPr>
          <a:xfrm>
            <a:off x="3246120" y="4892040"/>
            <a:ext cx="5276088" cy="566928"/>
          </a:xfrm>
          <a:prstGeom prst="roundRect">
            <a:avLst>
              <a:gd name="adj" fmla="val 12903"/>
            </a:avLst>
          </a:prstGeom>
          <a:solidFill>
            <a:srgbClr val="13283B"/>
          </a:solidFill>
          <a:ln w="8890">
            <a:solidFill>
              <a:srgbClr val="29445A"/>
            </a:solidFill>
            <a:prstDash val="solid"/>
          </a:ln>
        </p:spPr>
      </p:sp>
      <p:sp>
        <p:nvSpPr>
          <p:cNvPr id="30" name="Text 28"/>
          <p:cNvSpPr/>
          <p:nvPr/>
        </p:nvSpPr>
        <p:spPr>
          <a:xfrm>
            <a:off x="3383280" y="5074920"/>
            <a:ext cx="5001768" cy="182880"/>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B9C9D5"/>
                </a:solidFill>
                <a:latin typeface="Arial" pitchFamily="34" charset="0"/>
                <a:ea typeface="Arial" pitchFamily="34" charset="-122"/>
                <a:cs typeface="Arial" pitchFamily="34" charset="-120"/>
              </a:rPr>
              <a:t>Goong route / ETA      •      Firebase push      •      SePay top-up</a:t>
            </a:r>
            <a:endParaRPr lang="en-US" sz="1050" dirty="0"/>
          </a:p>
        </p:txBody>
      </p:sp>
      <p:sp>
        <p:nvSpPr>
          <p:cNvPr id="31" name="Shape 29"/>
          <p:cNvSpPr/>
          <p:nvPr/>
        </p:nvSpPr>
        <p:spPr>
          <a:xfrm>
            <a:off x="713232" y="5715000"/>
            <a:ext cx="10488168" cy="438912"/>
          </a:xfrm>
          <a:prstGeom prst="roundRect">
            <a:avLst>
              <a:gd name="adj" fmla="val 16667"/>
            </a:avLst>
          </a:prstGeom>
          <a:solidFill>
            <a:srgbClr val="DDF8EE"/>
          </a:solidFill>
          <a:ln w="12700">
            <a:solidFill>
              <a:srgbClr val="DDF8EE">
                <a:alpha val="0"/>
              </a:srgbClr>
            </a:solidFill>
            <a:prstDash val="solid"/>
          </a:ln>
        </p:spPr>
      </p:sp>
      <p:sp>
        <p:nvSpPr>
          <p:cNvPr id="32" name="Text 30"/>
          <p:cNvSpPr/>
          <p:nvPr/>
        </p:nvSpPr>
        <p:spPr>
          <a:xfrm>
            <a:off x="932688" y="5843016"/>
            <a:ext cx="10040112" cy="164592"/>
          </a:xfrm>
          <a:prstGeom prst="rect">
            <a:avLst/>
          </a:prstGeom>
          <a:noFill/>
          <a:ln/>
        </p:spPr>
        <p:txBody>
          <a:bodyPr wrap="square" lIns="0" tIns="0" rIns="0" bIns="0" rtlCol="0" anchor="ctr">
            <a:normAutofit/>
          </a:bodyPr>
          <a:lstStyle/>
          <a:p>
            <a:pPr algn="ctr" indent="0" marL="0">
              <a:lnSpc>
                <a:spcPct val="100000"/>
              </a:lnSpc>
              <a:buNone/>
            </a:pPr>
            <a:r>
              <a:rPr lang="en-US" sz="1150" b="1" dirty="0">
                <a:solidFill>
                  <a:srgbClr val="006B57"/>
                </a:solidFill>
                <a:latin typeface="Arial" pitchFamily="34" charset="0"/>
                <a:ea typeface="Arial" pitchFamily="34" charset="-122"/>
                <a:cs typeface="Arial" pitchFamily="34" charset="-120"/>
              </a:rPr>
              <a:t>Socket.IO không là nguồn dữ liệu chuẩn. Sau reconnect, app luôn nạp snapshot từ worker.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06 • MATCHING &amp; REALTIME</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Offer nhanh, winner duy nhất, reconnect không mất trạng thái</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Thiết kế ưu tiên tính đúng trước khi tối ưu tải.</a:t>
            </a:r>
            <a:endParaRPr lang="en-US" sz="1200" dirty="0"/>
          </a:p>
        </p:txBody>
      </p:sp>
      <p:sp>
        <p:nvSpPr>
          <p:cNvPr id="5" name="Shape 3"/>
          <p:cNvSpPr/>
          <p:nvPr/>
        </p:nvSpPr>
        <p:spPr>
          <a:xfrm>
            <a:off x="749808" y="1828800"/>
            <a:ext cx="1572768" cy="420624"/>
          </a:xfrm>
          <a:prstGeom prst="roundRect">
            <a:avLst>
              <a:gd name="adj" fmla="val 17391"/>
            </a:avLst>
          </a:prstGeom>
          <a:solidFill>
            <a:srgbClr val="0B1B2B"/>
          </a:solidFill>
          <a:ln w="12700">
            <a:solidFill>
              <a:srgbClr val="0B1B2B">
                <a:alpha val="0"/>
              </a:srgbClr>
            </a:solidFill>
            <a:prstDash val="solid"/>
          </a:ln>
        </p:spPr>
      </p:sp>
      <p:sp>
        <p:nvSpPr>
          <p:cNvPr id="6" name="Text 4"/>
          <p:cNvSpPr/>
          <p:nvPr/>
        </p:nvSpPr>
        <p:spPr>
          <a:xfrm>
            <a:off x="749808" y="1947672"/>
            <a:ext cx="1572768" cy="16459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Driver</a:t>
            </a:r>
            <a:endParaRPr lang="en-US" sz="1050" dirty="0"/>
          </a:p>
        </p:txBody>
      </p:sp>
      <p:sp>
        <p:nvSpPr>
          <p:cNvPr id="7" name="Shape 5"/>
          <p:cNvSpPr/>
          <p:nvPr/>
        </p:nvSpPr>
        <p:spPr>
          <a:xfrm>
            <a:off x="2743200" y="1828800"/>
            <a:ext cx="1572768" cy="420624"/>
          </a:xfrm>
          <a:prstGeom prst="roundRect">
            <a:avLst>
              <a:gd name="adj" fmla="val 17391"/>
            </a:avLst>
          </a:prstGeom>
          <a:solidFill>
            <a:srgbClr val="0B1B2B"/>
          </a:solidFill>
          <a:ln w="12700">
            <a:solidFill>
              <a:srgbClr val="0B1B2B">
                <a:alpha val="0"/>
              </a:srgbClr>
            </a:solidFill>
            <a:prstDash val="solid"/>
          </a:ln>
        </p:spPr>
      </p:sp>
      <p:sp>
        <p:nvSpPr>
          <p:cNvPr id="8" name="Text 6"/>
          <p:cNvSpPr/>
          <p:nvPr/>
        </p:nvSpPr>
        <p:spPr>
          <a:xfrm>
            <a:off x="2743200" y="1947672"/>
            <a:ext cx="1572768" cy="16459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Presence</a:t>
            </a:r>
            <a:endParaRPr lang="en-US" sz="1050" dirty="0"/>
          </a:p>
        </p:txBody>
      </p:sp>
      <p:sp>
        <p:nvSpPr>
          <p:cNvPr id="9" name="Shape 7"/>
          <p:cNvSpPr/>
          <p:nvPr/>
        </p:nvSpPr>
        <p:spPr>
          <a:xfrm>
            <a:off x="4736592" y="1828800"/>
            <a:ext cx="1572768" cy="420624"/>
          </a:xfrm>
          <a:prstGeom prst="roundRect">
            <a:avLst>
              <a:gd name="adj" fmla="val 17391"/>
            </a:avLst>
          </a:prstGeom>
          <a:solidFill>
            <a:srgbClr val="18C98B"/>
          </a:solidFill>
          <a:ln w="12700">
            <a:solidFill>
              <a:srgbClr val="18C98B">
                <a:alpha val="0"/>
              </a:srgbClr>
            </a:solidFill>
            <a:prstDash val="solid"/>
          </a:ln>
        </p:spPr>
      </p:sp>
      <p:sp>
        <p:nvSpPr>
          <p:cNvPr id="10" name="Text 8"/>
          <p:cNvSpPr/>
          <p:nvPr/>
        </p:nvSpPr>
        <p:spPr>
          <a:xfrm>
            <a:off x="4736592" y="1947672"/>
            <a:ext cx="1572768" cy="16459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0B1B2B"/>
                </a:solidFill>
                <a:latin typeface="Arial" pitchFamily="34" charset="0"/>
                <a:ea typeface="Arial" pitchFamily="34" charset="-122"/>
                <a:cs typeface="Arial" pitchFamily="34" charset="-120"/>
              </a:rPr>
              <a:t>Worker</a:t>
            </a:r>
            <a:endParaRPr lang="en-US" sz="1050" dirty="0"/>
          </a:p>
        </p:txBody>
      </p:sp>
      <p:sp>
        <p:nvSpPr>
          <p:cNvPr id="11" name="Shape 9"/>
          <p:cNvSpPr/>
          <p:nvPr/>
        </p:nvSpPr>
        <p:spPr>
          <a:xfrm>
            <a:off x="6729984" y="1828800"/>
            <a:ext cx="1572768" cy="420624"/>
          </a:xfrm>
          <a:prstGeom prst="roundRect">
            <a:avLst>
              <a:gd name="adj" fmla="val 17391"/>
            </a:avLst>
          </a:prstGeom>
          <a:solidFill>
            <a:srgbClr val="0B1B2B"/>
          </a:solidFill>
          <a:ln w="12700">
            <a:solidFill>
              <a:srgbClr val="0B1B2B">
                <a:alpha val="0"/>
              </a:srgbClr>
            </a:solidFill>
            <a:prstDash val="solid"/>
          </a:ln>
        </p:spPr>
      </p:sp>
      <p:sp>
        <p:nvSpPr>
          <p:cNvPr id="12" name="Text 10"/>
          <p:cNvSpPr/>
          <p:nvPr/>
        </p:nvSpPr>
        <p:spPr>
          <a:xfrm>
            <a:off x="6729984" y="1947672"/>
            <a:ext cx="1572768" cy="16459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Redis / Outbox</a:t>
            </a:r>
            <a:endParaRPr lang="en-US" sz="1050" dirty="0"/>
          </a:p>
        </p:txBody>
      </p:sp>
      <p:sp>
        <p:nvSpPr>
          <p:cNvPr id="13" name="Shape 11"/>
          <p:cNvSpPr/>
          <p:nvPr/>
        </p:nvSpPr>
        <p:spPr>
          <a:xfrm>
            <a:off x="8723376" y="1828800"/>
            <a:ext cx="1572768" cy="420624"/>
          </a:xfrm>
          <a:prstGeom prst="roundRect">
            <a:avLst>
              <a:gd name="adj" fmla="val 17391"/>
            </a:avLst>
          </a:prstGeom>
          <a:solidFill>
            <a:srgbClr val="0B1B2B"/>
          </a:solidFill>
          <a:ln w="12700">
            <a:solidFill>
              <a:srgbClr val="0B1B2B">
                <a:alpha val="0"/>
              </a:srgbClr>
            </a:solidFill>
            <a:prstDash val="solid"/>
          </a:ln>
        </p:spPr>
      </p:sp>
      <p:sp>
        <p:nvSpPr>
          <p:cNvPr id="14" name="Text 12"/>
          <p:cNvSpPr/>
          <p:nvPr/>
        </p:nvSpPr>
        <p:spPr>
          <a:xfrm>
            <a:off x="8723376" y="1947672"/>
            <a:ext cx="1572768" cy="164592"/>
          </a:xfrm>
          <a:prstGeom prst="rect">
            <a:avLst/>
          </a:prstGeom>
          <a:noFill/>
          <a:ln/>
        </p:spPr>
        <p:txBody>
          <a:bodyPr wrap="square" lIns="0" tIns="0" rIns="0" bIns="0" rtlCol="0" anchor="ctr">
            <a:normAutofit/>
          </a:bodyP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Customer</a:t>
            </a:r>
            <a:endParaRPr lang="en-US" sz="1050" dirty="0"/>
          </a:p>
        </p:txBody>
      </p:sp>
      <p:sp>
        <p:nvSpPr>
          <p:cNvPr id="15" name="Shape 13"/>
          <p:cNvSpPr/>
          <p:nvPr/>
        </p:nvSpPr>
        <p:spPr>
          <a:xfrm>
            <a:off x="1536192" y="2633472"/>
            <a:ext cx="3986784" cy="0"/>
          </a:xfrm>
          <a:prstGeom prst="line">
            <a:avLst/>
          </a:prstGeom>
          <a:noFill/>
          <a:ln w="17145">
            <a:solidFill>
              <a:srgbClr val="0E8F82"/>
            </a:solidFill>
            <a:prstDash val="solid"/>
            <a:headEnd type="none"/>
            <a:tailEnd type="triangle"/>
          </a:ln>
        </p:spPr>
      </p:sp>
      <p:sp>
        <p:nvSpPr>
          <p:cNvPr id="16" name="Text 14"/>
          <p:cNvSpPr/>
          <p:nvPr/>
        </p:nvSpPr>
        <p:spPr>
          <a:xfrm>
            <a:off x="1627632" y="2404872"/>
            <a:ext cx="3803904"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online + GPS heartbeat</a:t>
            </a:r>
            <a:endParaRPr lang="en-US" sz="860" dirty="0"/>
          </a:p>
        </p:txBody>
      </p:sp>
      <p:sp>
        <p:nvSpPr>
          <p:cNvPr id="17" name="Shape 15"/>
          <p:cNvSpPr/>
          <p:nvPr/>
        </p:nvSpPr>
        <p:spPr>
          <a:xfrm>
            <a:off x="5522976" y="3127248"/>
            <a:ext cx="-1993392" cy="0"/>
          </a:xfrm>
          <a:prstGeom prst="line">
            <a:avLst/>
          </a:prstGeom>
          <a:noFill/>
          <a:ln w="17145">
            <a:solidFill>
              <a:srgbClr val="0E8F82"/>
            </a:solidFill>
            <a:prstDash val="solid"/>
            <a:headEnd type="none"/>
            <a:tailEnd type="triangle"/>
          </a:ln>
        </p:spPr>
      </p:sp>
      <p:sp>
        <p:nvSpPr>
          <p:cNvPr id="18" name="Text 16"/>
          <p:cNvSpPr/>
          <p:nvPr/>
        </p:nvSpPr>
        <p:spPr>
          <a:xfrm>
            <a:off x="3621024" y="2898648"/>
            <a:ext cx="1810512"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filter approved / TTL / GEO</a:t>
            </a:r>
            <a:endParaRPr lang="en-US" sz="860" dirty="0"/>
          </a:p>
        </p:txBody>
      </p:sp>
      <p:sp>
        <p:nvSpPr>
          <p:cNvPr id="19" name="Shape 17"/>
          <p:cNvSpPr/>
          <p:nvPr/>
        </p:nvSpPr>
        <p:spPr>
          <a:xfrm>
            <a:off x="5522976" y="3621024"/>
            <a:ext cx="-3986784" cy="0"/>
          </a:xfrm>
          <a:prstGeom prst="line">
            <a:avLst/>
          </a:prstGeom>
          <a:noFill/>
          <a:ln w="17145">
            <a:solidFill>
              <a:srgbClr val="0E8F82"/>
            </a:solidFill>
            <a:prstDash val="solid"/>
            <a:headEnd type="none"/>
            <a:tailEnd type="triangle"/>
          </a:ln>
        </p:spPr>
      </p:sp>
      <p:sp>
        <p:nvSpPr>
          <p:cNvPr id="20" name="Text 18"/>
          <p:cNvSpPr/>
          <p:nvPr/>
        </p:nvSpPr>
        <p:spPr>
          <a:xfrm>
            <a:off x="1627632" y="3392424"/>
            <a:ext cx="3803904"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offer batch + expiry</a:t>
            </a:r>
            <a:endParaRPr lang="en-US" sz="860" dirty="0"/>
          </a:p>
        </p:txBody>
      </p:sp>
      <p:sp>
        <p:nvSpPr>
          <p:cNvPr id="21" name="Shape 19"/>
          <p:cNvSpPr/>
          <p:nvPr/>
        </p:nvSpPr>
        <p:spPr>
          <a:xfrm>
            <a:off x="1536192" y="4114800"/>
            <a:ext cx="3986784" cy="0"/>
          </a:xfrm>
          <a:prstGeom prst="line">
            <a:avLst/>
          </a:prstGeom>
          <a:noFill/>
          <a:ln w="17145">
            <a:solidFill>
              <a:srgbClr val="0E8F82"/>
            </a:solidFill>
            <a:prstDash val="solid"/>
            <a:headEnd type="none"/>
            <a:tailEnd type="triangle"/>
          </a:ln>
        </p:spPr>
      </p:sp>
      <p:sp>
        <p:nvSpPr>
          <p:cNvPr id="22" name="Text 20"/>
          <p:cNvSpPr/>
          <p:nvPr/>
        </p:nvSpPr>
        <p:spPr>
          <a:xfrm>
            <a:off x="1627632" y="3886200"/>
            <a:ext cx="3803904"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accept (Idempotency-Key)</a:t>
            </a:r>
            <a:endParaRPr lang="en-US" sz="860" dirty="0"/>
          </a:p>
        </p:txBody>
      </p:sp>
      <p:sp>
        <p:nvSpPr>
          <p:cNvPr id="23" name="Shape 21"/>
          <p:cNvSpPr/>
          <p:nvPr/>
        </p:nvSpPr>
        <p:spPr>
          <a:xfrm>
            <a:off x="5522976" y="4608576"/>
            <a:ext cx="1993392" cy="0"/>
          </a:xfrm>
          <a:prstGeom prst="line">
            <a:avLst/>
          </a:prstGeom>
          <a:noFill/>
          <a:ln w="17145">
            <a:solidFill>
              <a:srgbClr val="006B57"/>
            </a:solidFill>
            <a:prstDash val="solid"/>
            <a:headEnd type="none"/>
            <a:tailEnd type="triangle"/>
          </a:ln>
        </p:spPr>
      </p:sp>
      <p:sp>
        <p:nvSpPr>
          <p:cNvPr id="24" name="Text 22"/>
          <p:cNvSpPr/>
          <p:nvPr/>
        </p:nvSpPr>
        <p:spPr>
          <a:xfrm>
            <a:off x="5614416" y="4379976"/>
            <a:ext cx="1810512"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commit assignment + outbox</a:t>
            </a:r>
            <a:endParaRPr lang="en-US" sz="860" dirty="0"/>
          </a:p>
        </p:txBody>
      </p:sp>
      <p:sp>
        <p:nvSpPr>
          <p:cNvPr id="25" name="Shape 23"/>
          <p:cNvSpPr/>
          <p:nvPr/>
        </p:nvSpPr>
        <p:spPr>
          <a:xfrm>
            <a:off x="7516368" y="5102352"/>
            <a:ext cx="1993392" cy="0"/>
          </a:xfrm>
          <a:prstGeom prst="line">
            <a:avLst/>
          </a:prstGeom>
          <a:noFill/>
          <a:ln w="17145">
            <a:solidFill>
              <a:srgbClr val="0E8F82"/>
            </a:solidFill>
            <a:prstDash val="solid"/>
            <a:headEnd type="none"/>
            <a:tailEnd type="triangle"/>
          </a:ln>
        </p:spPr>
      </p:sp>
      <p:sp>
        <p:nvSpPr>
          <p:cNvPr id="26" name="Text 24"/>
          <p:cNvSpPr/>
          <p:nvPr/>
        </p:nvSpPr>
        <p:spPr>
          <a:xfrm>
            <a:off x="7607808" y="4873752"/>
            <a:ext cx="1810512" cy="164592"/>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17180"/>
                </a:solidFill>
                <a:latin typeface="Arial" pitchFamily="34" charset="0"/>
                <a:ea typeface="Arial" pitchFamily="34" charset="-122"/>
                <a:cs typeface="Arial" pitchFamily="34" charset="-120"/>
              </a:rPr>
              <a:t>event → private room</a:t>
            </a:r>
            <a:endParaRPr lang="en-US" sz="860" dirty="0"/>
          </a:p>
        </p:txBody>
      </p:sp>
      <p:sp>
        <p:nvSpPr>
          <p:cNvPr id="27" name="Shape 25"/>
          <p:cNvSpPr/>
          <p:nvPr/>
        </p:nvSpPr>
        <p:spPr>
          <a:xfrm>
            <a:off x="749808" y="5715000"/>
            <a:ext cx="3310128" cy="475488"/>
          </a:xfrm>
          <a:prstGeom prst="roundRect">
            <a:avLst>
              <a:gd name="adj" fmla="val 15385"/>
            </a:avLst>
          </a:prstGeom>
          <a:solidFill>
            <a:srgbClr val="DDF8EE"/>
          </a:solidFill>
          <a:ln w="8890">
            <a:solidFill>
              <a:srgbClr val="DDF8EE"/>
            </a:solidFill>
            <a:prstDash val="solid"/>
          </a:ln>
        </p:spPr>
      </p:sp>
      <p:sp>
        <p:nvSpPr>
          <p:cNvPr id="28" name="Text 26"/>
          <p:cNvSpPr/>
          <p:nvPr/>
        </p:nvSpPr>
        <p:spPr>
          <a:xfrm>
            <a:off x="914400" y="5852160"/>
            <a:ext cx="2971800" cy="164592"/>
          </a:xfrm>
          <a:prstGeom prst="rect">
            <a:avLst/>
          </a:prstGeom>
          <a:noFill/>
          <a:ln/>
        </p:spPr>
        <p:txBody>
          <a:bodyPr wrap="square" lIns="0" tIns="0" rIns="0" bIns="0" rtlCol="0" anchor="ctr">
            <a:normAutofit/>
          </a:bodyPr>
          <a:lstStyle/>
          <a:p>
            <a:pPr algn="ctr" indent="0" marL="0">
              <a:lnSpc>
                <a:spcPct val="100000"/>
              </a:lnSpc>
              <a:buNone/>
            </a:pPr>
            <a:r>
              <a:rPr lang="en-US" sz="950" b="1" dirty="0">
                <a:solidFill>
                  <a:srgbClr val="006B57"/>
                </a:solidFill>
                <a:latin typeface="Arial" pitchFamily="34" charset="0"/>
                <a:ea typeface="Arial" pitchFamily="34" charset="-122"/>
                <a:cs typeface="Arial" pitchFamily="34" charset="-120"/>
              </a:rPr>
              <a:t>Partial unique index: 1 assignment active</a:t>
            </a:r>
            <a:endParaRPr lang="en-US" sz="950" dirty="0"/>
          </a:p>
        </p:txBody>
      </p:sp>
      <p:sp>
        <p:nvSpPr>
          <p:cNvPr id="29" name="Shape 27"/>
          <p:cNvSpPr/>
          <p:nvPr/>
        </p:nvSpPr>
        <p:spPr>
          <a:xfrm>
            <a:off x="4261104" y="5715000"/>
            <a:ext cx="3310128" cy="475488"/>
          </a:xfrm>
          <a:prstGeom prst="roundRect">
            <a:avLst>
              <a:gd name="adj" fmla="val 15385"/>
            </a:avLst>
          </a:prstGeom>
          <a:solidFill>
            <a:srgbClr val="FFF2CF"/>
          </a:solidFill>
          <a:ln w="8890">
            <a:solidFill>
              <a:srgbClr val="FFF2CF"/>
            </a:solidFill>
            <a:prstDash val="solid"/>
          </a:ln>
        </p:spPr>
      </p:sp>
      <p:sp>
        <p:nvSpPr>
          <p:cNvPr id="30" name="Text 28"/>
          <p:cNvSpPr/>
          <p:nvPr/>
        </p:nvSpPr>
        <p:spPr>
          <a:xfrm>
            <a:off x="4425696" y="5852160"/>
            <a:ext cx="2971800" cy="164592"/>
          </a:xfrm>
          <a:prstGeom prst="rect">
            <a:avLst/>
          </a:prstGeom>
          <a:noFill/>
          <a:ln/>
        </p:spPr>
        <p:txBody>
          <a:bodyPr wrap="square" lIns="0" tIns="0" rIns="0" bIns="0" rtlCol="0" anchor="ctr">
            <a:normAutofit/>
          </a:bodyPr>
          <a:lstStyle/>
          <a:p>
            <a:pPr algn="ctr" indent="0" marL="0">
              <a:lnSpc>
                <a:spcPct val="100000"/>
              </a:lnSpc>
              <a:buNone/>
            </a:pPr>
            <a:r>
              <a:rPr lang="en-US" sz="950" b="1" dirty="0">
                <a:solidFill>
                  <a:srgbClr val="8B5A00"/>
                </a:solidFill>
                <a:latin typeface="Arial" pitchFamily="34" charset="0"/>
                <a:ea typeface="Arial" pitchFamily="34" charset="-122"/>
                <a:cs typeface="Arial" pitchFamily="34" charset="-120"/>
              </a:rPr>
              <a:t>Event duplicate / out-of-order có guard</a:t>
            </a:r>
            <a:endParaRPr lang="en-US" sz="950" dirty="0"/>
          </a:p>
        </p:txBody>
      </p:sp>
      <p:sp>
        <p:nvSpPr>
          <p:cNvPr id="31" name="Shape 29"/>
          <p:cNvSpPr/>
          <p:nvPr/>
        </p:nvSpPr>
        <p:spPr>
          <a:xfrm>
            <a:off x="7772400" y="5715000"/>
            <a:ext cx="3310128" cy="475488"/>
          </a:xfrm>
          <a:prstGeom prst="roundRect">
            <a:avLst>
              <a:gd name="adj" fmla="val 15385"/>
            </a:avLst>
          </a:prstGeom>
          <a:solidFill>
            <a:srgbClr val="E7F0FF"/>
          </a:solidFill>
          <a:ln w="8890">
            <a:solidFill>
              <a:srgbClr val="E7F0FF"/>
            </a:solidFill>
            <a:prstDash val="solid"/>
          </a:ln>
        </p:spPr>
      </p:sp>
      <p:sp>
        <p:nvSpPr>
          <p:cNvPr id="32" name="Text 30"/>
          <p:cNvSpPr/>
          <p:nvPr/>
        </p:nvSpPr>
        <p:spPr>
          <a:xfrm>
            <a:off x="7936992" y="5852160"/>
            <a:ext cx="2971800" cy="164592"/>
          </a:xfrm>
          <a:prstGeom prst="rect">
            <a:avLst/>
          </a:prstGeom>
          <a:noFill/>
          <a:ln/>
        </p:spPr>
        <p:txBody>
          <a:bodyPr wrap="square" lIns="0" tIns="0" rIns="0" bIns="0" rtlCol="0" anchor="ctr">
            <a:normAutofit/>
          </a:bodyPr>
          <a:lstStyle/>
          <a:p>
            <a:pPr algn="ctr" indent="0" marL="0">
              <a:lnSpc>
                <a:spcPct val="100000"/>
              </a:lnSpc>
              <a:buNone/>
            </a:pPr>
            <a:r>
              <a:rPr lang="en-US" sz="950" b="1" dirty="0">
                <a:solidFill>
                  <a:srgbClr val="4F86D9"/>
                </a:solidFill>
                <a:latin typeface="Arial" pitchFamily="34" charset="0"/>
                <a:ea typeface="Arial" pitchFamily="34" charset="-122"/>
                <a:cs typeface="Arial" pitchFamily="34" charset="-120"/>
              </a:rPr>
              <a:t>Reconnect → snapshot authoritative</a:t>
            </a:r>
            <a:endParaRPr lang="en-US" sz="950" dirty="0"/>
          </a:p>
        </p:txBody>
      </p:sp>
      <p:sp>
        <p:nvSpPr>
          <p:cNvPr id="33" name="Shape 31"/>
          <p:cNvSpPr/>
          <p:nvPr/>
        </p:nvSpPr>
        <p:spPr>
          <a:xfrm>
            <a:off x="502920" y="6419088"/>
            <a:ext cx="11155680" cy="0"/>
          </a:xfrm>
          <a:prstGeom prst="line">
            <a:avLst/>
          </a:prstGeom>
          <a:noFill/>
          <a:ln w="8255">
            <a:solidFill>
              <a:srgbClr val="D9E2E8"/>
            </a:solidFill>
            <a:prstDash val="solid"/>
            <a:headEnd type="none"/>
            <a:tailEnd type="none"/>
          </a:ln>
        </p:spPr>
      </p:sp>
      <p:sp>
        <p:nvSpPr>
          <p:cNvPr id="34" name="Text 32"/>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docs/implementation/README.md • service/src/realtime</a:t>
            </a:r>
            <a:endParaRPr lang="en-US" sz="750" dirty="0"/>
          </a:p>
        </p:txBody>
      </p:sp>
      <p:sp>
        <p:nvSpPr>
          <p:cNvPr id="35" name="Text 33"/>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07</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07 • STATE MACHINE</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Delivery và Drive: cùng khung, khác nghiệp vụ</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Tách state giúp tránh cập nhật nhầm trạng thái và xử lý ngoại lệ rõ ràng.</a:t>
            </a:r>
            <a:endParaRPr lang="en-US" sz="1200" dirty="0"/>
          </a:p>
        </p:txBody>
      </p:sp>
      <p:sp>
        <p:nvSpPr>
          <p:cNvPr id="5" name="Text 3"/>
          <p:cNvSpPr/>
          <p:nvPr/>
        </p:nvSpPr>
        <p:spPr>
          <a:xfrm>
            <a:off x="749808" y="1828800"/>
            <a:ext cx="1371600" cy="20116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06B57"/>
                </a:solidFill>
                <a:latin typeface="Arial" pitchFamily="34" charset="0"/>
                <a:ea typeface="Arial" pitchFamily="34" charset="-122"/>
                <a:cs typeface="Arial" pitchFamily="34" charset="-120"/>
              </a:rPr>
              <a:t>DELIVERY</a:t>
            </a:r>
            <a:endParaRPr lang="en-US" sz="1100" dirty="0"/>
          </a:p>
        </p:txBody>
      </p:sp>
      <p:sp>
        <p:nvSpPr>
          <p:cNvPr id="6" name="Text 4"/>
          <p:cNvSpPr/>
          <p:nvPr/>
        </p:nvSpPr>
        <p:spPr>
          <a:xfrm>
            <a:off x="749808" y="3995928"/>
            <a:ext cx="1371600" cy="20116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E8F82"/>
                </a:solidFill>
                <a:latin typeface="Arial" pitchFamily="34" charset="0"/>
                <a:ea typeface="Arial" pitchFamily="34" charset="-122"/>
                <a:cs typeface="Arial" pitchFamily="34" charset="-120"/>
              </a:rPr>
              <a:t>DRIVE</a:t>
            </a:r>
            <a:endParaRPr lang="en-US" sz="1100" dirty="0"/>
          </a:p>
        </p:txBody>
      </p:sp>
      <p:sp>
        <p:nvSpPr>
          <p:cNvPr id="7" name="Shape 5"/>
          <p:cNvSpPr/>
          <p:nvPr/>
        </p:nvSpPr>
        <p:spPr>
          <a:xfrm>
            <a:off x="1572768" y="1828800"/>
            <a:ext cx="1335024" cy="512064"/>
          </a:xfrm>
          <a:prstGeom prst="roundRect">
            <a:avLst>
              <a:gd name="adj" fmla="val 14286"/>
            </a:avLst>
          </a:prstGeom>
          <a:solidFill>
            <a:srgbClr val="FFFFFF"/>
          </a:solidFill>
          <a:ln w="10160">
            <a:solidFill>
              <a:srgbClr val="D9E2E8"/>
            </a:solidFill>
            <a:prstDash val="solid"/>
          </a:ln>
        </p:spPr>
      </p:sp>
      <p:sp>
        <p:nvSpPr>
          <p:cNvPr id="8" name="Text 6"/>
          <p:cNvSpPr/>
          <p:nvPr/>
        </p:nvSpPr>
        <p:spPr>
          <a:xfrm>
            <a:off x="1572768"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SEARCHING</a:t>
            </a:r>
            <a:endParaRPr lang="en-US" sz="820" dirty="0"/>
          </a:p>
        </p:txBody>
      </p:sp>
      <p:sp>
        <p:nvSpPr>
          <p:cNvPr id="9" name="Shape 7"/>
          <p:cNvSpPr/>
          <p:nvPr/>
        </p:nvSpPr>
        <p:spPr>
          <a:xfrm>
            <a:off x="2935224" y="2084832"/>
            <a:ext cx="265176" cy="0"/>
          </a:xfrm>
          <a:prstGeom prst="line">
            <a:avLst/>
          </a:prstGeom>
          <a:noFill/>
          <a:ln w="15875">
            <a:solidFill>
              <a:srgbClr val="D9E2E8"/>
            </a:solidFill>
            <a:prstDash val="solid"/>
            <a:headEnd type="none"/>
            <a:tailEnd type="triangle"/>
          </a:ln>
        </p:spPr>
      </p:sp>
      <p:sp>
        <p:nvSpPr>
          <p:cNvPr id="10" name="Shape 8"/>
          <p:cNvSpPr/>
          <p:nvPr/>
        </p:nvSpPr>
        <p:spPr>
          <a:xfrm>
            <a:off x="3246120" y="1828800"/>
            <a:ext cx="1335024" cy="512064"/>
          </a:xfrm>
          <a:prstGeom prst="roundRect">
            <a:avLst>
              <a:gd name="adj" fmla="val 14286"/>
            </a:avLst>
          </a:prstGeom>
          <a:solidFill>
            <a:srgbClr val="FFFFFF"/>
          </a:solidFill>
          <a:ln w="10160">
            <a:solidFill>
              <a:srgbClr val="D9E2E8"/>
            </a:solidFill>
            <a:prstDash val="solid"/>
          </a:ln>
        </p:spPr>
      </p:sp>
      <p:sp>
        <p:nvSpPr>
          <p:cNvPr id="11" name="Text 9"/>
          <p:cNvSpPr/>
          <p:nvPr/>
        </p:nvSpPr>
        <p:spPr>
          <a:xfrm>
            <a:off x="3246120"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ASSIGNED</a:t>
            </a:r>
            <a:endParaRPr lang="en-US" sz="820" dirty="0"/>
          </a:p>
        </p:txBody>
      </p:sp>
      <p:sp>
        <p:nvSpPr>
          <p:cNvPr id="12" name="Shape 10"/>
          <p:cNvSpPr/>
          <p:nvPr/>
        </p:nvSpPr>
        <p:spPr>
          <a:xfrm>
            <a:off x="4608576" y="2084832"/>
            <a:ext cx="265176" cy="0"/>
          </a:xfrm>
          <a:prstGeom prst="line">
            <a:avLst/>
          </a:prstGeom>
          <a:noFill/>
          <a:ln w="15875">
            <a:solidFill>
              <a:srgbClr val="D9E2E8"/>
            </a:solidFill>
            <a:prstDash val="solid"/>
            <a:headEnd type="none"/>
            <a:tailEnd type="triangle"/>
          </a:ln>
        </p:spPr>
      </p:sp>
      <p:sp>
        <p:nvSpPr>
          <p:cNvPr id="13" name="Shape 11"/>
          <p:cNvSpPr/>
          <p:nvPr/>
        </p:nvSpPr>
        <p:spPr>
          <a:xfrm>
            <a:off x="4919472" y="1828800"/>
            <a:ext cx="1335024" cy="512064"/>
          </a:xfrm>
          <a:prstGeom prst="roundRect">
            <a:avLst>
              <a:gd name="adj" fmla="val 14286"/>
            </a:avLst>
          </a:prstGeom>
          <a:solidFill>
            <a:srgbClr val="FFFFFF"/>
          </a:solidFill>
          <a:ln w="10160">
            <a:solidFill>
              <a:srgbClr val="D9E2E8"/>
            </a:solidFill>
            <a:prstDash val="solid"/>
          </a:ln>
        </p:spPr>
      </p:sp>
      <p:sp>
        <p:nvSpPr>
          <p:cNvPr id="14" name="Text 12"/>
          <p:cNvSpPr/>
          <p:nvPr/>
        </p:nvSpPr>
        <p:spPr>
          <a:xfrm>
            <a:off x="4919472"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AT_PICKUP</a:t>
            </a:r>
            <a:endParaRPr lang="en-US" sz="820" dirty="0"/>
          </a:p>
        </p:txBody>
      </p:sp>
      <p:sp>
        <p:nvSpPr>
          <p:cNvPr id="15" name="Shape 13"/>
          <p:cNvSpPr/>
          <p:nvPr/>
        </p:nvSpPr>
        <p:spPr>
          <a:xfrm>
            <a:off x="6281928" y="2084832"/>
            <a:ext cx="265176" cy="0"/>
          </a:xfrm>
          <a:prstGeom prst="line">
            <a:avLst/>
          </a:prstGeom>
          <a:noFill/>
          <a:ln w="15875">
            <a:solidFill>
              <a:srgbClr val="D9E2E8"/>
            </a:solidFill>
            <a:prstDash val="solid"/>
            <a:headEnd type="none"/>
            <a:tailEnd type="triangle"/>
          </a:ln>
        </p:spPr>
      </p:sp>
      <p:sp>
        <p:nvSpPr>
          <p:cNvPr id="16" name="Shape 14"/>
          <p:cNvSpPr/>
          <p:nvPr/>
        </p:nvSpPr>
        <p:spPr>
          <a:xfrm>
            <a:off x="6592824" y="1828800"/>
            <a:ext cx="1335024" cy="512064"/>
          </a:xfrm>
          <a:prstGeom prst="roundRect">
            <a:avLst>
              <a:gd name="adj" fmla="val 14286"/>
            </a:avLst>
          </a:prstGeom>
          <a:solidFill>
            <a:srgbClr val="FFFFFF"/>
          </a:solidFill>
          <a:ln w="10160">
            <a:solidFill>
              <a:srgbClr val="D9E2E8"/>
            </a:solidFill>
            <a:prstDash val="solid"/>
          </a:ln>
        </p:spPr>
      </p:sp>
      <p:sp>
        <p:nvSpPr>
          <p:cNvPr id="17" name="Text 15"/>
          <p:cNvSpPr/>
          <p:nvPr/>
        </p:nvSpPr>
        <p:spPr>
          <a:xfrm>
            <a:off x="6592824"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PICKED_UP</a:t>
            </a:r>
            <a:endParaRPr lang="en-US" sz="820" dirty="0"/>
          </a:p>
        </p:txBody>
      </p:sp>
      <p:sp>
        <p:nvSpPr>
          <p:cNvPr id="18" name="Shape 16"/>
          <p:cNvSpPr/>
          <p:nvPr/>
        </p:nvSpPr>
        <p:spPr>
          <a:xfrm>
            <a:off x="7955280" y="2084832"/>
            <a:ext cx="265176" cy="0"/>
          </a:xfrm>
          <a:prstGeom prst="line">
            <a:avLst/>
          </a:prstGeom>
          <a:noFill/>
          <a:ln w="15875">
            <a:solidFill>
              <a:srgbClr val="D9E2E8"/>
            </a:solidFill>
            <a:prstDash val="solid"/>
            <a:headEnd type="none"/>
            <a:tailEnd type="triangle"/>
          </a:ln>
        </p:spPr>
      </p:sp>
      <p:sp>
        <p:nvSpPr>
          <p:cNvPr id="19" name="Shape 17"/>
          <p:cNvSpPr/>
          <p:nvPr/>
        </p:nvSpPr>
        <p:spPr>
          <a:xfrm>
            <a:off x="8266176" y="1828800"/>
            <a:ext cx="1335024" cy="512064"/>
          </a:xfrm>
          <a:prstGeom prst="roundRect">
            <a:avLst>
              <a:gd name="adj" fmla="val 14286"/>
            </a:avLst>
          </a:prstGeom>
          <a:solidFill>
            <a:srgbClr val="FFFFFF"/>
          </a:solidFill>
          <a:ln w="10160">
            <a:solidFill>
              <a:srgbClr val="D9E2E8"/>
            </a:solidFill>
            <a:prstDash val="solid"/>
          </a:ln>
        </p:spPr>
      </p:sp>
      <p:sp>
        <p:nvSpPr>
          <p:cNvPr id="20" name="Text 18"/>
          <p:cNvSpPr/>
          <p:nvPr/>
        </p:nvSpPr>
        <p:spPr>
          <a:xfrm>
            <a:off x="8266176"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IN_DELIVERY</a:t>
            </a:r>
            <a:endParaRPr lang="en-US" sz="820" dirty="0"/>
          </a:p>
        </p:txBody>
      </p:sp>
      <p:sp>
        <p:nvSpPr>
          <p:cNvPr id="21" name="Shape 19"/>
          <p:cNvSpPr/>
          <p:nvPr/>
        </p:nvSpPr>
        <p:spPr>
          <a:xfrm>
            <a:off x="9628632" y="2084832"/>
            <a:ext cx="265176" cy="0"/>
          </a:xfrm>
          <a:prstGeom prst="line">
            <a:avLst/>
          </a:prstGeom>
          <a:noFill/>
          <a:ln w="15875">
            <a:solidFill>
              <a:srgbClr val="D9E2E8"/>
            </a:solidFill>
            <a:prstDash val="solid"/>
            <a:headEnd type="none"/>
            <a:tailEnd type="triangle"/>
          </a:ln>
        </p:spPr>
      </p:sp>
      <p:sp>
        <p:nvSpPr>
          <p:cNvPr id="22" name="Shape 20"/>
          <p:cNvSpPr/>
          <p:nvPr/>
        </p:nvSpPr>
        <p:spPr>
          <a:xfrm>
            <a:off x="9939528" y="1828800"/>
            <a:ext cx="1335024" cy="512064"/>
          </a:xfrm>
          <a:prstGeom prst="roundRect">
            <a:avLst>
              <a:gd name="adj" fmla="val 14286"/>
            </a:avLst>
          </a:prstGeom>
          <a:solidFill>
            <a:srgbClr val="18C98B"/>
          </a:solidFill>
          <a:ln w="10160">
            <a:solidFill>
              <a:srgbClr val="18C98B"/>
            </a:solidFill>
            <a:prstDash val="solid"/>
          </a:ln>
        </p:spPr>
      </p:sp>
      <p:sp>
        <p:nvSpPr>
          <p:cNvPr id="23" name="Text 21"/>
          <p:cNvSpPr/>
          <p:nvPr/>
        </p:nvSpPr>
        <p:spPr>
          <a:xfrm>
            <a:off x="9939528" y="1993392"/>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DELIVERED</a:t>
            </a:r>
            <a:endParaRPr lang="en-US" sz="820" dirty="0"/>
          </a:p>
        </p:txBody>
      </p:sp>
      <p:sp>
        <p:nvSpPr>
          <p:cNvPr id="24" name="Shape 22"/>
          <p:cNvSpPr/>
          <p:nvPr/>
        </p:nvSpPr>
        <p:spPr>
          <a:xfrm>
            <a:off x="1572768" y="3995928"/>
            <a:ext cx="1335024" cy="512064"/>
          </a:xfrm>
          <a:prstGeom prst="roundRect">
            <a:avLst>
              <a:gd name="adj" fmla="val 14286"/>
            </a:avLst>
          </a:prstGeom>
          <a:solidFill>
            <a:srgbClr val="FFFFFF"/>
          </a:solidFill>
          <a:ln w="10160">
            <a:solidFill>
              <a:srgbClr val="D9E2E8"/>
            </a:solidFill>
            <a:prstDash val="solid"/>
          </a:ln>
        </p:spPr>
      </p:sp>
      <p:sp>
        <p:nvSpPr>
          <p:cNvPr id="25" name="Text 23"/>
          <p:cNvSpPr/>
          <p:nvPr/>
        </p:nvSpPr>
        <p:spPr>
          <a:xfrm>
            <a:off x="1572768"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SEARCHING</a:t>
            </a:r>
            <a:endParaRPr lang="en-US" sz="820" dirty="0"/>
          </a:p>
        </p:txBody>
      </p:sp>
      <p:sp>
        <p:nvSpPr>
          <p:cNvPr id="26" name="Shape 24"/>
          <p:cNvSpPr/>
          <p:nvPr/>
        </p:nvSpPr>
        <p:spPr>
          <a:xfrm>
            <a:off x="2935224" y="4251960"/>
            <a:ext cx="265176" cy="0"/>
          </a:xfrm>
          <a:prstGeom prst="line">
            <a:avLst/>
          </a:prstGeom>
          <a:noFill/>
          <a:ln w="15875">
            <a:solidFill>
              <a:srgbClr val="D9E2E8"/>
            </a:solidFill>
            <a:prstDash val="solid"/>
            <a:headEnd type="none"/>
            <a:tailEnd type="triangle"/>
          </a:ln>
        </p:spPr>
      </p:sp>
      <p:sp>
        <p:nvSpPr>
          <p:cNvPr id="27" name="Shape 25"/>
          <p:cNvSpPr/>
          <p:nvPr/>
        </p:nvSpPr>
        <p:spPr>
          <a:xfrm>
            <a:off x="3246120" y="3995928"/>
            <a:ext cx="1335024" cy="512064"/>
          </a:xfrm>
          <a:prstGeom prst="roundRect">
            <a:avLst>
              <a:gd name="adj" fmla="val 14286"/>
            </a:avLst>
          </a:prstGeom>
          <a:solidFill>
            <a:srgbClr val="FFFFFF"/>
          </a:solidFill>
          <a:ln w="10160">
            <a:solidFill>
              <a:srgbClr val="D9E2E8"/>
            </a:solidFill>
            <a:prstDash val="solid"/>
          </a:ln>
        </p:spPr>
      </p:sp>
      <p:sp>
        <p:nvSpPr>
          <p:cNvPr id="28" name="Text 26"/>
          <p:cNvSpPr/>
          <p:nvPr/>
        </p:nvSpPr>
        <p:spPr>
          <a:xfrm>
            <a:off x="3246120"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ASSIGNED</a:t>
            </a:r>
            <a:endParaRPr lang="en-US" sz="820" dirty="0"/>
          </a:p>
        </p:txBody>
      </p:sp>
      <p:sp>
        <p:nvSpPr>
          <p:cNvPr id="29" name="Shape 27"/>
          <p:cNvSpPr/>
          <p:nvPr/>
        </p:nvSpPr>
        <p:spPr>
          <a:xfrm>
            <a:off x="4608576" y="4251960"/>
            <a:ext cx="265176" cy="0"/>
          </a:xfrm>
          <a:prstGeom prst="line">
            <a:avLst/>
          </a:prstGeom>
          <a:noFill/>
          <a:ln w="15875">
            <a:solidFill>
              <a:srgbClr val="D9E2E8"/>
            </a:solidFill>
            <a:prstDash val="solid"/>
            <a:headEnd type="none"/>
            <a:tailEnd type="triangle"/>
          </a:ln>
        </p:spPr>
      </p:sp>
      <p:sp>
        <p:nvSpPr>
          <p:cNvPr id="30" name="Shape 28"/>
          <p:cNvSpPr/>
          <p:nvPr/>
        </p:nvSpPr>
        <p:spPr>
          <a:xfrm>
            <a:off x="4919472" y="3995928"/>
            <a:ext cx="1335024" cy="512064"/>
          </a:xfrm>
          <a:prstGeom prst="roundRect">
            <a:avLst>
              <a:gd name="adj" fmla="val 14286"/>
            </a:avLst>
          </a:prstGeom>
          <a:solidFill>
            <a:srgbClr val="FFFFFF"/>
          </a:solidFill>
          <a:ln w="10160">
            <a:solidFill>
              <a:srgbClr val="D9E2E8"/>
            </a:solidFill>
            <a:prstDash val="solid"/>
          </a:ln>
        </p:spPr>
      </p:sp>
      <p:sp>
        <p:nvSpPr>
          <p:cNvPr id="31" name="Text 29"/>
          <p:cNvSpPr/>
          <p:nvPr/>
        </p:nvSpPr>
        <p:spPr>
          <a:xfrm>
            <a:off x="4919472"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ARRIVING</a:t>
            </a:r>
            <a:endParaRPr lang="en-US" sz="820" dirty="0"/>
          </a:p>
        </p:txBody>
      </p:sp>
      <p:sp>
        <p:nvSpPr>
          <p:cNvPr id="32" name="Shape 30"/>
          <p:cNvSpPr/>
          <p:nvPr/>
        </p:nvSpPr>
        <p:spPr>
          <a:xfrm>
            <a:off x="6281928" y="4251960"/>
            <a:ext cx="265176" cy="0"/>
          </a:xfrm>
          <a:prstGeom prst="line">
            <a:avLst/>
          </a:prstGeom>
          <a:noFill/>
          <a:ln w="15875">
            <a:solidFill>
              <a:srgbClr val="D9E2E8"/>
            </a:solidFill>
            <a:prstDash val="solid"/>
            <a:headEnd type="none"/>
            <a:tailEnd type="triangle"/>
          </a:ln>
        </p:spPr>
      </p:sp>
      <p:sp>
        <p:nvSpPr>
          <p:cNvPr id="33" name="Shape 31"/>
          <p:cNvSpPr/>
          <p:nvPr/>
        </p:nvSpPr>
        <p:spPr>
          <a:xfrm>
            <a:off x="6592824" y="3995928"/>
            <a:ext cx="1335024" cy="512064"/>
          </a:xfrm>
          <a:prstGeom prst="roundRect">
            <a:avLst>
              <a:gd name="adj" fmla="val 14286"/>
            </a:avLst>
          </a:prstGeom>
          <a:solidFill>
            <a:srgbClr val="FFFFFF"/>
          </a:solidFill>
          <a:ln w="10160">
            <a:solidFill>
              <a:srgbClr val="D9E2E8"/>
            </a:solidFill>
            <a:prstDash val="solid"/>
          </a:ln>
        </p:spPr>
      </p:sp>
      <p:sp>
        <p:nvSpPr>
          <p:cNvPr id="34" name="Text 32"/>
          <p:cNvSpPr/>
          <p:nvPr/>
        </p:nvSpPr>
        <p:spPr>
          <a:xfrm>
            <a:off x="6592824"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ARRIVED</a:t>
            </a:r>
            <a:endParaRPr lang="en-US" sz="820" dirty="0"/>
          </a:p>
        </p:txBody>
      </p:sp>
      <p:sp>
        <p:nvSpPr>
          <p:cNvPr id="35" name="Shape 33"/>
          <p:cNvSpPr/>
          <p:nvPr/>
        </p:nvSpPr>
        <p:spPr>
          <a:xfrm>
            <a:off x="7955280" y="4251960"/>
            <a:ext cx="265176" cy="0"/>
          </a:xfrm>
          <a:prstGeom prst="line">
            <a:avLst/>
          </a:prstGeom>
          <a:noFill/>
          <a:ln w="15875">
            <a:solidFill>
              <a:srgbClr val="D9E2E8"/>
            </a:solidFill>
            <a:prstDash val="solid"/>
            <a:headEnd type="none"/>
            <a:tailEnd type="triangle"/>
          </a:ln>
        </p:spPr>
      </p:sp>
      <p:sp>
        <p:nvSpPr>
          <p:cNvPr id="36" name="Shape 34"/>
          <p:cNvSpPr/>
          <p:nvPr/>
        </p:nvSpPr>
        <p:spPr>
          <a:xfrm>
            <a:off x="8266176" y="3995928"/>
            <a:ext cx="1335024" cy="512064"/>
          </a:xfrm>
          <a:prstGeom prst="roundRect">
            <a:avLst>
              <a:gd name="adj" fmla="val 14286"/>
            </a:avLst>
          </a:prstGeom>
          <a:solidFill>
            <a:srgbClr val="FFFFFF"/>
          </a:solidFill>
          <a:ln w="10160">
            <a:solidFill>
              <a:srgbClr val="D9E2E8"/>
            </a:solidFill>
            <a:prstDash val="solid"/>
          </a:ln>
        </p:spPr>
      </p:sp>
      <p:sp>
        <p:nvSpPr>
          <p:cNvPr id="37" name="Text 35"/>
          <p:cNvSpPr/>
          <p:nvPr/>
        </p:nvSpPr>
        <p:spPr>
          <a:xfrm>
            <a:off x="8266176"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0B1B2B"/>
                </a:solidFill>
                <a:latin typeface="Arial" pitchFamily="34" charset="0"/>
                <a:ea typeface="Arial" pitchFamily="34" charset="-122"/>
                <a:cs typeface="Arial" pitchFamily="34" charset="-120"/>
              </a:rPr>
              <a:t>IN_TRIP</a:t>
            </a:r>
            <a:endParaRPr lang="en-US" sz="820" dirty="0"/>
          </a:p>
        </p:txBody>
      </p:sp>
      <p:sp>
        <p:nvSpPr>
          <p:cNvPr id="38" name="Shape 36"/>
          <p:cNvSpPr/>
          <p:nvPr/>
        </p:nvSpPr>
        <p:spPr>
          <a:xfrm>
            <a:off x="9628632" y="4251960"/>
            <a:ext cx="265176" cy="0"/>
          </a:xfrm>
          <a:prstGeom prst="line">
            <a:avLst/>
          </a:prstGeom>
          <a:noFill/>
          <a:ln w="15875">
            <a:solidFill>
              <a:srgbClr val="D9E2E8"/>
            </a:solidFill>
            <a:prstDash val="solid"/>
            <a:headEnd type="none"/>
            <a:tailEnd type="triangle"/>
          </a:ln>
        </p:spPr>
      </p:sp>
      <p:sp>
        <p:nvSpPr>
          <p:cNvPr id="39" name="Shape 37"/>
          <p:cNvSpPr/>
          <p:nvPr/>
        </p:nvSpPr>
        <p:spPr>
          <a:xfrm>
            <a:off x="9939528" y="3995928"/>
            <a:ext cx="1335024" cy="512064"/>
          </a:xfrm>
          <a:prstGeom prst="roundRect">
            <a:avLst>
              <a:gd name="adj" fmla="val 14286"/>
            </a:avLst>
          </a:prstGeom>
          <a:solidFill>
            <a:srgbClr val="0E8F82"/>
          </a:solidFill>
          <a:ln w="10160">
            <a:solidFill>
              <a:srgbClr val="0E8F82"/>
            </a:solidFill>
            <a:prstDash val="solid"/>
          </a:ln>
        </p:spPr>
      </p:sp>
      <p:sp>
        <p:nvSpPr>
          <p:cNvPr id="40" name="Text 38"/>
          <p:cNvSpPr/>
          <p:nvPr/>
        </p:nvSpPr>
        <p:spPr>
          <a:xfrm>
            <a:off x="9939528" y="4160520"/>
            <a:ext cx="1335024" cy="155448"/>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FFFFFF"/>
                </a:solidFill>
                <a:latin typeface="Arial" pitchFamily="34" charset="0"/>
                <a:ea typeface="Arial" pitchFamily="34" charset="-122"/>
                <a:cs typeface="Arial" pitchFamily="34" charset="-120"/>
              </a:rPr>
              <a:t>COMPLETED</a:t>
            </a:r>
            <a:endParaRPr lang="en-US" sz="820" dirty="0"/>
          </a:p>
        </p:txBody>
      </p:sp>
      <p:sp>
        <p:nvSpPr>
          <p:cNvPr id="41" name="Shape 39"/>
          <p:cNvSpPr/>
          <p:nvPr/>
        </p:nvSpPr>
        <p:spPr>
          <a:xfrm>
            <a:off x="1572768" y="2679192"/>
            <a:ext cx="9637776" cy="694944"/>
          </a:xfrm>
          <a:prstGeom prst="roundRect">
            <a:avLst>
              <a:gd name="adj" fmla="val 10526"/>
            </a:avLst>
          </a:prstGeom>
          <a:solidFill>
            <a:srgbClr val="DDF8EE"/>
          </a:solidFill>
          <a:ln w="12700">
            <a:solidFill>
              <a:srgbClr val="DDF8EE">
                <a:alpha val="0"/>
              </a:srgbClr>
            </a:solidFill>
            <a:prstDash val="solid"/>
          </a:ln>
        </p:spPr>
      </p:sp>
      <p:sp>
        <p:nvSpPr>
          <p:cNvPr id="42" name="Text 40"/>
          <p:cNvSpPr/>
          <p:nvPr/>
        </p:nvSpPr>
        <p:spPr>
          <a:xfrm>
            <a:off x="1810512" y="2862072"/>
            <a:ext cx="1417320" cy="18288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006B57"/>
                </a:solidFill>
                <a:latin typeface="Arial" pitchFamily="34" charset="0"/>
                <a:ea typeface="Arial" pitchFamily="34" charset="-122"/>
                <a:cs typeface="Arial" pitchFamily="34" charset="-120"/>
              </a:rPr>
              <a:t>Ngoại lệ Delivery</a:t>
            </a:r>
            <a:endParaRPr lang="en-US" sz="1000" dirty="0"/>
          </a:p>
        </p:txBody>
      </p:sp>
      <p:sp>
        <p:nvSpPr>
          <p:cNvPr id="43" name="Text 41"/>
          <p:cNvSpPr/>
          <p:nvPr/>
        </p:nvSpPr>
        <p:spPr>
          <a:xfrm>
            <a:off x="3310128" y="2843784"/>
            <a:ext cx="6382512"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B1B2B"/>
                </a:solidFill>
                <a:latin typeface="Arial" pitchFamily="34" charset="0"/>
                <a:ea typeface="Arial" pitchFamily="34" charset="-122"/>
                <a:cs typeface="Arial" pitchFamily="34" charset="-120"/>
              </a:rPr>
              <a:t>Giao thất bại sau pickup → RETURN_REQUESTED → RETURNING → RETURNED</a:t>
            </a:r>
            <a:endParaRPr lang="en-US" sz="1100" dirty="0"/>
          </a:p>
        </p:txBody>
      </p:sp>
      <p:sp>
        <p:nvSpPr>
          <p:cNvPr id="44" name="Text 42"/>
          <p:cNvSpPr/>
          <p:nvPr/>
        </p:nvSpPr>
        <p:spPr>
          <a:xfrm>
            <a:off x="3310128" y="3108960"/>
            <a:ext cx="6382512" cy="164592"/>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617180"/>
                </a:solidFill>
                <a:latin typeface="Arial" pitchFamily="34" charset="0"/>
                <a:ea typeface="Arial" pitchFamily="34" charset="-122"/>
                <a:cs typeface="Arial" pitchFamily="34" charset="-120"/>
              </a:rPr>
              <a:t>Không tạo order hoàn mới; vẫn giữ cùng DeliveryOrder.</a:t>
            </a:r>
            <a:endParaRPr lang="en-US" sz="950" dirty="0"/>
          </a:p>
        </p:txBody>
      </p:sp>
      <p:sp>
        <p:nvSpPr>
          <p:cNvPr id="45" name="Shape 43"/>
          <p:cNvSpPr/>
          <p:nvPr/>
        </p:nvSpPr>
        <p:spPr>
          <a:xfrm>
            <a:off x="1572768" y="4846320"/>
            <a:ext cx="9637776" cy="694944"/>
          </a:xfrm>
          <a:prstGeom prst="roundRect">
            <a:avLst>
              <a:gd name="adj" fmla="val 10526"/>
            </a:avLst>
          </a:prstGeom>
          <a:solidFill>
            <a:srgbClr val="E7F0FF"/>
          </a:solidFill>
          <a:ln w="12700">
            <a:solidFill>
              <a:srgbClr val="E7F0FF">
                <a:alpha val="0"/>
              </a:srgbClr>
            </a:solidFill>
            <a:prstDash val="solid"/>
          </a:ln>
        </p:spPr>
      </p:sp>
      <p:sp>
        <p:nvSpPr>
          <p:cNvPr id="46" name="Text 44"/>
          <p:cNvSpPr/>
          <p:nvPr/>
        </p:nvSpPr>
        <p:spPr>
          <a:xfrm>
            <a:off x="1810512" y="5029200"/>
            <a:ext cx="1417320" cy="18288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4F86D9"/>
                </a:solidFill>
                <a:latin typeface="Arial" pitchFamily="34" charset="0"/>
                <a:ea typeface="Arial" pitchFamily="34" charset="-122"/>
                <a:cs typeface="Arial" pitchFamily="34" charset="-120"/>
              </a:rPr>
              <a:t>Nguyên tắc Drive</a:t>
            </a:r>
            <a:endParaRPr lang="en-US" sz="1000" dirty="0"/>
          </a:p>
        </p:txBody>
      </p:sp>
      <p:sp>
        <p:nvSpPr>
          <p:cNvPr id="47" name="Text 45"/>
          <p:cNvSpPr/>
          <p:nvPr/>
        </p:nvSpPr>
        <p:spPr>
          <a:xfrm>
            <a:off x="3310128" y="5010912"/>
            <a:ext cx="6400800"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0B1B2B"/>
                </a:solidFill>
                <a:latin typeface="Arial" pitchFamily="34" charset="0"/>
                <a:ea typeface="Arial" pitchFamily="34" charset="-122"/>
                <a:cs typeface="Arial" pitchFamily="34" charset="-120"/>
              </a:rPr>
              <a:t>Không hủy thông thường khi IN_TRIP; sự cố phải lưu điểm kết thúc thực tế.</a:t>
            </a:r>
            <a:endParaRPr lang="en-US" sz="1100" dirty="0"/>
          </a:p>
        </p:txBody>
      </p:sp>
      <p:sp>
        <p:nvSpPr>
          <p:cNvPr id="48" name="Text 46"/>
          <p:cNvSpPr/>
          <p:nvPr/>
        </p:nvSpPr>
        <p:spPr>
          <a:xfrm>
            <a:off x="3310128" y="5276088"/>
            <a:ext cx="6382512" cy="164592"/>
          </a:xfrm>
          <a:prstGeom prst="rect">
            <a:avLst/>
          </a:prstGeom>
          <a:noFill/>
          <a:ln/>
        </p:spPr>
        <p:txBody>
          <a:bodyPr wrap="square" lIns="0" tIns="0" rIns="0" bIns="0" rtlCol="0" anchor="ctr">
            <a:normAutofit/>
          </a:bodyPr>
          <a:lstStyle/>
          <a:p>
            <a:pPr algn="l" indent="0" marL="0">
              <a:lnSpc>
                <a:spcPct val="100000"/>
              </a:lnSpc>
              <a:buNone/>
            </a:pPr>
            <a:r>
              <a:rPr lang="en-US" sz="950" dirty="0">
                <a:solidFill>
                  <a:srgbClr val="617180"/>
                </a:solidFill>
                <a:latin typeface="Arial" pitchFamily="34" charset="0"/>
                <a:ea typeface="Arial" pitchFamily="34" charset="-122"/>
                <a:cs typeface="Arial" pitchFamily="34" charset="-120"/>
              </a:rPr>
              <a:t>Mọi transition ghi actor, reason, timestamp và correlation id.</a:t>
            </a:r>
            <a:endParaRPr lang="en-US" sz="950" dirty="0"/>
          </a:p>
        </p:txBody>
      </p:sp>
      <p:sp>
        <p:nvSpPr>
          <p:cNvPr id="49" name="Shape 47"/>
          <p:cNvSpPr/>
          <p:nvPr/>
        </p:nvSpPr>
        <p:spPr>
          <a:xfrm>
            <a:off x="502920" y="6419088"/>
            <a:ext cx="11155680" cy="0"/>
          </a:xfrm>
          <a:prstGeom prst="line">
            <a:avLst/>
          </a:prstGeom>
          <a:noFill/>
          <a:ln w="8255">
            <a:solidFill>
              <a:srgbClr val="D9E2E8"/>
            </a:solidFill>
            <a:prstDash val="solid"/>
            <a:headEnd type="none"/>
            <a:tailEnd type="none"/>
          </a:ln>
        </p:spPr>
      </p:sp>
      <p:sp>
        <p:nvSpPr>
          <p:cNvPr id="50" name="Text 48"/>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docs/00-tong-quan.md • docs/flows/05, 08, 10</a:t>
            </a:r>
            <a:endParaRPr lang="en-US" sz="750" dirty="0"/>
          </a:p>
        </p:txBody>
      </p:sp>
      <p:sp>
        <p:nvSpPr>
          <p:cNvPr id="51" name="Text 49"/>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08</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08 • TÀI CHÍNH</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Ví, tiền mặt và voucher đều đi qua sổ cái có đối soát</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Settlement độc lập với trạng thái dịch vụ để không mất bằng chứng khi ghi sổ lỗi.</a:t>
            </a:r>
            <a:endParaRPr lang="en-US" sz="1200" dirty="0"/>
          </a:p>
        </p:txBody>
      </p:sp>
      <p:sp>
        <p:nvSpPr>
          <p:cNvPr id="5" name="Shape 3"/>
          <p:cNvSpPr/>
          <p:nvPr/>
        </p:nvSpPr>
        <p:spPr>
          <a:xfrm>
            <a:off x="658368" y="1810512"/>
            <a:ext cx="4663440" cy="3621024"/>
          </a:xfrm>
          <a:prstGeom prst="roundRect">
            <a:avLst>
              <a:gd name="adj" fmla="val 2020"/>
            </a:avLst>
          </a:prstGeom>
          <a:solidFill>
            <a:srgbClr val="0B1B2B"/>
          </a:solidFill>
          <a:ln w="8890">
            <a:solidFill>
              <a:srgbClr val="0B1B2B"/>
            </a:solidFill>
            <a:prstDash val="solid"/>
          </a:ln>
        </p:spPr>
      </p:sp>
      <p:sp>
        <p:nvSpPr>
          <p:cNvPr id="6" name="Text 4"/>
          <p:cNvSpPr/>
          <p:nvPr/>
        </p:nvSpPr>
        <p:spPr>
          <a:xfrm>
            <a:off x="960120" y="2148840"/>
            <a:ext cx="2743200" cy="22860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8C98B"/>
                </a:solidFill>
                <a:latin typeface="Arial" pitchFamily="34" charset="0"/>
                <a:ea typeface="Arial" pitchFamily="34" charset="-122"/>
                <a:cs typeface="Arial" pitchFamily="34" charset="-120"/>
              </a:rPr>
              <a:t>Công thức quyết toán</a:t>
            </a:r>
            <a:endParaRPr lang="en-US" sz="1600" dirty="0"/>
          </a:p>
        </p:txBody>
      </p:sp>
      <p:sp>
        <p:nvSpPr>
          <p:cNvPr id="7" name="Text 5"/>
          <p:cNvSpPr/>
          <p:nvPr/>
        </p:nvSpPr>
        <p:spPr>
          <a:xfrm>
            <a:off x="960120" y="2724912"/>
            <a:ext cx="2240280" cy="256032"/>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Arial" pitchFamily="34" charset="0"/>
                <a:ea typeface="Arial" pitchFamily="34" charset="-122"/>
                <a:cs typeface="Arial" pitchFamily="34" charset="-120"/>
              </a:rPr>
              <a:t>driver_net_earning</a:t>
            </a:r>
            <a:endParaRPr lang="en-US" sz="1900" dirty="0"/>
          </a:p>
        </p:txBody>
      </p:sp>
      <p:sp>
        <p:nvSpPr>
          <p:cNvPr id="8" name="Text 6"/>
          <p:cNvSpPr/>
          <p:nvPr/>
        </p:nvSpPr>
        <p:spPr>
          <a:xfrm>
            <a:off x="960120" y="3218688"/>
            <a:ext cx="3621024" cy="1024128"/>
          </a:xfrm>
          <a:prstGeom prst="rect">
            <a:avLst/>
          </a:prstGeom>
          <a:noFill/>
          <a:ln/>
        </p:spPr>
        <p:txBody>
          <a:bodyPr wrap="square" lIns="0" tIns="0" rIns="0" bIns="0" rtlCol="0" anchor="t">
            <a:normAutofit/>
          </a:bodyPr>
          <a:lstStyle/>
          <a:p>
            <a:pPr algn="l" indent="0" marL="0">
              <a:lnSpc>
                <a:spcPct val="100000"/>
              </a:lnSpc>
              <a:buNone/>
            </a:pPr>
            <a:r>
              <a:rPr lang="en-US" sz="1400" b="1" dirty="0">
                <a:solidFill>
                  <a:srgbClr val="E8F0F4"/>
                </a:solidFill>
                <a:latin typeface="Arial" pitchFamily="34" charset="0"/>
                <a:ea typeface="Arial" pitchFamily="34" charset="-122"/>
                <a:cs typeface="Arial" pitchFamily="34" charset="-120"/>
              </a:rPr>
              <a:t>= cash_collected</a:t>
            </a:r>
            <a:endParaRPr lang="en-US" sz="1400" dirty="0"/>
          </a:p>
          <a:p>
            <a:pPr algn="l" indent="0" marL="0">
              <a:lnSpc>
                <a:spcPct val="100000"/>
              </a:lnSpc>
              <a:buNone/>
            </a:pPr>
            <a:r>
              <a:rPr lang="en-US" sz="1400" b="1" dirty="0">
                <a:solidFill>
                  <a:srgbClr val="E8F0F4"/>
                </a:solidFill>
                <a:latin typeface="Arial" pitchFamily="34" charset="0"/>
                <a:ea typeface="Arial" pitchFamily="34" charset="-122"/>
                <a:cs typeface="Arial" pitchFamily="34" charset="-120"/>
              </a:rPr>
              <a:t>  + wallet_payment_amount</a:t>
            </a:r>
            <a:endParaRPr lang="en-US" sz="1400" dirty="0"/>
          </a:p>
          <a:p>
            <a:pPr algn="l" indent="0" marL="0">
              <a:lnSpc>
                <a:spcPct val="100000"/>
              </a:lnSpc>
              <a:buNone/>
            </a:pPr>
            <a:r>
              <a:rPr lang="en-US" sz="1400" b="1" dirty="0">
                <a:solidFill>
                  <a:srgbClr val="E8F0F4"/>
                </a:solidFill>
                <a:latin typeface="Arial" pitchFamily="34" charset="0"/>
                <a:ea typeface="Arial" pitchFamily="34" charset="-122"/>
                <a:cs typeface="Arial" pitchFamily="34" charset="-120"/>
              </a:rPr>
              <a:t>  + voucher_payment_amount</a:t>
            </a:r>
            <a:endParaRPr lang="en-US" sz="1400" dirty="0"/>
          </a:p>
          <a:p>
            <a:pPr algn="l" indent="0" marL="0">
              <a:lnSpc>
                <a:spcPct val="100000"/>
              </a:lnSpc>
              <a:buNone/>
            </a:pPr>
            <a:r>
              <a:rPr lang="en-US" sz="1400" b="1" dirty="0">
                <a:solidFill>
                  <a:srgbClr val="E8F0F4"/>
                </a:solidFill>
                <a:latin typeface="Arial" pitchFamily="34" charset="0"/>
                <a:ea typeface="Arial" pitchFamily="34" charset="-122"/>
                <a:cs typeface="Arial" pitchFamily="34" charset="-120"/>
              </a:rPr>
              <a:t>  − platform_fee_debited</a:t>
            </a:r>
            <a:endParaRPr lang="en-US" sz="1400" dirty="0"/>
          </a:p>
        </p:txBody>
      </p:sp>
      <p:sp>
        <p:nvSpPr>
          <p:cNvPr id="9" name="Shape 7"/>
          <p:cNvSpPr/>
          <p:nvPr/>
        </p:nvSpPr>
        <p:spPr>
          <a:xfrm>
            <a:off x="960120" y="4681728"/>
            <a:ext cx="1847088" cy="310896"/>
          </a:xfrm>
          <a:prstGeom prst="roundRect">
            <a:avLst>
              <a:gd name="adj" fmla="val 23529"/>
            </a:avLst>
          </a:prstGeom>
          <a:solidFill>
            <a:srgbClr val="F4B942"/>
          </a:solidFill>
          <a:ln w="12700">
            <a:solidFill>
              <a:srgbClr val="F4B942">
                <a:alpha val="0"/>
              </a:srgbClr>
            </a:solidFill>
            <a:prstDash val="solid"/>
          </a:ln>
        </p:spPr>
      </p:sp>
      <p:sp>
        <p:nvSpPr>
          <p:cNvPr id="10" name="Text 8"/>
          <p:cNvSpPr/>
          <p:nvPr/>
        </p:nvSpPr>
        <p:spPr>
          <a:xfrm>
            <a:off x="960120" y="4690872"/>
            <a:ext cx="1847088" cy="292608"/>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0B1B2B"/>
                </a:solidFill>
                <a:latin typeface="Arial" pitchFamily="34" charset="0"/>
                <a:ea typeface="Arial" pitchFamily="34" charset="-122"/>
                <a:cs typeface="Arial" pitchFamily="34" charset="-120"/>
              </a:rPr>
              <a:t>driver rate snapshot: 88%</a:t>
            </a:r>
            <a:endParaRPr lang="en-US" sz="900" dirty="0"/>
          </a:p>
        </p:txBody>
      </p:sp>
      <p:sp>
        <p:nvSpPr>
          <p:cNvPr id="11" name="Text 9"/>
          <p:cNvSpPr/>
          <p:nvPr/>
        </p:nvSpPr>
        <p:spPr>
          <a:xfrm>
            <a:off x="960120" y="5084064"/>
            <a:ext cx="3767328" cy="182880"/>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B9C9D5"/>
                </a:solidFill>
                <a:latin typeface="Arial" pitchFamily="34" charset="0"/>
                <a:ea typeface="Arial" pitchFamily="34" charset="-122"/>
                <a:cs typeface="Arial" pitchFamily="34" charset="-120"/>
              </a:rPr>
              <a:t>Ví tài xế chỉ ghi sổ sau khi dịch vụ hoàn tất.</a:t>
            </a:r>
            <a:endParaRPr lang="en-US" sz="1050" dirty="0"/>
          </a:p>
        </p:txBody>
      </p:sp>
      <p:sp>
        <p:nvSpPr>
          <p:cNvPr id="12" name="Shape 10"/>
          <p:cNvSpPr/>
          <p:nvPr/>
        </p:nvSpPr>
        <p:spPr>
          <a:xfrm>
            <a:off x="5669280" y="1810512"/>
            <a:ext cx="5870448" cy="3621024"/>
          </a:xfrm>
          <a:prstGeom prst="roundRect">
            <a:avLst>
              <a:gd name="adj" fmla="val 2020"/>
            </a:avLst>
          </a:prstGeom>
          <a:solidFill>
            <a:srgbClr val="FFFFFF"/>
          </a:solidFill>
          <a:ln w="8890">
            <a:solidFill>
              <a:srgbClr val="D9E2E8"/>
            </a:solidFill>
            <a:prstDash val="solid"/>
          </a:ln>
        </p:spPr>
      </p:sp>
      <p:sp>
        <p:nvSpPr>
          <p:cNvPr id="13" name="Text 11"/>
          <p:cNvSpPr/>
          <p:nvPr/>
        </p:nvSpPr>
        <p:spPr>
          <a:xfrm>
            <a:off x="5989320" y="2148840"/>
            <a:ext cx="3749040" cy="22860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1B2B"/>
                </a:solidFill>
                <a:latin typeface="Arial" pitchFamily="34" charset="0"/>
                <a:ea typeface="Arial" pitchFamily="34" charset="-122"/>
                <a:cs typeface="Arial" pitchFamily="34" charset="-120"/>
              </a:rPr>
              <a:t>Ví dụ: gross fare = 100.000đ</a:t>
            </a:r>
            <a:endParaRPr lang="en-US" sz="1600" dirty="0"/>
          </a:p>
        </p:txBody>
      </p:sp>
      <p:sp>
        <p:nvSpPr>
          <p:cNvPr id="14" name="Shape 12"/>
          <p:cNvSpPr/>
          <p:nvPr/>
        </p:nvSpPr>
        <p:spPr>
          <a:xfrm>
            <a:off x="5989320" y="2670048"/>
            <a:ext cx="5230368" cy="384048"/>
          </a:xfrm>
          <a:prstGeom prst="roundRect">
            <a:avLst>
              <a:gd name="adj" fmla="val 19048"/>
            </a:avLst>
          </a:prstGeom>
          <a:solidFill>
            <a:srgbClr val="E7F0FF"/>
          </a:solidFill>
          <a:ln w="12700">
            <a:solidFill>
              <a:srgbClr val="E7F0FF">
                <a:alpha val="0"/>
              </a:srgbClr>
            </a:solidFill>
            <a:prstDash val="solid"/>
          </a:ln>
        </p:spPr>
      </p:sp>
      <p:sp>
        <p:nvSpPr>
          <p:cNvPr id="15" name="Text 13"/>
          <p:cNvSpPr/>
          <p:nvPr/>
        </p:nvSpPr>
        <p:spPr>
          <a:xfrm>
            <a:off x="6199632" y="2770632"/>
            <a:ext cx="2926080" cy="146304"/>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0B1B2B"/>
                </a:solidFill>
                <a:latin typeface="Arial" pitchFamily="34" charset="0"/>
                <a:ea typeface="Arial" pitchFamily="34" charset="-122"/>
                <a:cs typeface="Arial" pitchFamily="34" charset="-120"/>
              </a:rPr>
              <a:t>Khách trả</a:t>
            </a:r>
            <a:endParaRPr lang="en-US" sz="1050" dirty="0"/>
          </a:p>
        </p:txBody>
      </p:sp>
      <p:sp>
        <p:nvSpPr>
          <p:cNvPr id="16" name="Text 14"/>
          <p:cNvSpPr/>
          <p:nvPr/>
        </p:nvSpPr>
        <p:spPr>
          <a:xfrm>
            <a:off x="10241280" y="2770632"/>
            <a:ext cx="749808" cy="146304"/>
          </a:xfrm>
          <a:prstGeom prst="rect">
            <a:avLst/>
          </a:prstGeom>
          <a:noFill/>
          <a:ln/>
        </p:spPr>
        <p:txBody>
          <a:bodyPr wrap="square" lIns="0" tIns="0" rIns="0" bIns="0" rtlCol="0" anchor="ctr">
            <a:normAutofit/>
          </a:bodyPr>
          <a:lstStyle/>
          <a:p>
            <a:pPr algn="r" indent="0" marL="0">
              <a:lnSpc>
                <a:spcPct val="100000"/>
              </a:lnSpc>
              <a:buNone/>
            </a:pPr>
            <a:r>
              <a:rPr lang="en-US" sz="1050" b="1" dirty="0">
                <a:solidFill>
                  <a:srgbClr val="4F86D9"/>
                </a:solidFill>
                <a:latin typeface="Arial" pitchFamily="34" charset="0"/>
                <a:ea typeface="Arial" pitchFamily="34" charset="-122"/>
                <a:cs typeface="Arial" pitchFamily="34" charset="-120"/>
              </a:rPr>
              <a:t>80.000đ</a:t>
            </a:r>
            <a:endParaRPr lang="en-US" sz="1050" dirty="0"/>
          </a:p>
        </p:txBody>
      </p:sp>
      <p:sp>
        <p:nvSpPr>
          <p:cNvPr id="17" name="Shape 15"/>
          <p:cNvSpPr/>
          <p:nvPr/>
        </p:nvSpPr>
        <p:spPr>
          <a:xfrm>
            <a:off x="5989320" y="3172968"/>
            <a:ext cx="5230368" cy="384048"/>
          </a:xfrm>
          <a:prstGeom prst="roundRect">
            <a:avLst>
              <a:gd name="adj" fmla="val 19048"/>
            </a:avLst>
          </a:prstGeom>
          <a:solidFill>
            <a:srgbClr val="FFF2CF"/>
          </a:solidFill>
          <a:ln w="12700">
            <a:solidFill>
              <a:srgbClr val="FFF2CF">
                <a:alpha val="0"/>
              </a:srgbClr>
            </a:solidFill>
            <a:prstDash val="solid"/>
          </a:ln>
        </p:spPr>
      </p:sp>
      <p:sp>
        <p:nvSpPr>
          <p:cNvPr id="18" name="Text 16"/>
          <p:cNvSpPr/>
          <p:nvPr/>
        </p:nvSpPr>
        <p:spPr>
          <a:xfrm>
            <a:off x="6199632" y="3273552"/>
            <a:ext cx="2926080" cy="146304"/>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0B1B2B"/>
                </a:solidFill>
                <a:latin typeface="Arial" pitchFamily="34" charset="0"/>
                <a:ea typeface="Arial" pitchFamily="34" charset="-122"/>
                <a:cs typeface="Arial" pitchFamily="34" charset="-120"/>
              </a:rPr>
              <a:t>Voucher tài trợ</a:t>
            </a:r>
            <a:endParaRPr lang="en-US" sz="1050" dirty="0"/>
          </a:p>
        </p:txBody>
      </p:sp>
      <p:sp>
        <p:nvSpPr>
          <p:cNvPr id="19" name="Text 17"/>
          <p:cNvSpPr/>
          <p:nvPr/>
        </p:nvSpPr>
        <p:spPr>
          <a:xfrm>
            <a:off x="10241280" y="3273552"/>
            <a:ext cx="749808" cy="146304"/>
          </a:xfrm>
          <a:prstGeom prst="rect">
            <a:avLst/>
          </a:prstGeom>
          <a:noFill/>
          <a:ln/>
        </p:spPr>
        <p:txBody>
          <a:bodyPr wrap="square" lIns="0" tIns="0" rIns="0" bIns="0" rtlCol="0" anchor="ctr">
            <a:normAutofit/>
          </a:bodyPr>
          <a:lstStyle/>
          <a:p>
            <a:pPr algn="r" indent="0" marL="0">
              <a:lnSpc>
                <a:spcPct val="100000"/>
              </a:lnSpc>
              <a:buNone/>
            </a:pPr>
            <a:r>
              <a:rPr lang="en-US" sz="1050" b="1" dirty="0">
                <a:solidFill>
                  <a:srgbClr val="8B5A00"/>
                </a:solidFill>
                <a:latin typeface="Arial" pitchFamily="34" charset="0"/>
                <a:ea typeface="Arial" pitchFamily="34" charset="-122"/>
                <a:cs typeface="Arial" pitchFamily="34" charset="-120"/>
              </a:rPr>
              <a:t>20.000đ</a:t>
            </a:r>
            <a:endParaRPr lang="en-US" sz="1050" dirty="0"/>
          </a:p>
        </p:txBody>
      </p:sp>
      <p:sp>
        <p:nvSpPr>
          <p:cNvPr id="20" name="Shape 18"/>
          <p:cNvSpPr/>
          <p:nvPr/>
        </p:nvSpPr>
        <p:spPr>
          <a:xfrm>
            <a:off x="5989320" y="3675888"/>
            <a:ext cx="5230368" cy="384048"/>
          </a:xfrm>
          <a:prstGeom prst="roundRect">
            <a:avLst>
              <a:gd name="adj" fmla="val 19048"/>
            </a:avLst>
          </a:prstGeom>
          <a:solidFill>
            <a:srgbClr val="DDF8EE"/>
          </a:solidFill>
          <a:ln w="12700">
            <a:solidFill>
              <a:srgbClr val="DDF8EE">
                <a:alpha val="0"/>
              </a:srgbClr>
            </a:solidFill>
            <a:prstDash val="solid"/>
          </a:ln>
        </p:spPr>
      </p:sp>
      <p:sp>
        <p:nvSpPr>
          <p:cNvPr id="21" name="Text 19"/>
          <p:cNvSpPr/>
          <p:nvPr/>
        </p:nvSpPr>
        <p:spPr>
          <a:xfrm>
            <a:off x="6199632" y="3776472"/>
            <a:ext cx="2926080" cy="146304"/>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Thu nhập gộp tài xế</a:t>
            </a:r>
            <a:endParaRPr lang="en-US" sz="1050" dirty="0"/>
          </a:p>
        </p:txBody>
      </p:sp>
      <p:sp>
        <p:nvSpPr>
          <p:cNvPr id="22" name="Text 20"/>
          <p:cNvSpPr/>
          <p:nvPr/>
        </p:nvSpPr>
        <p:spPr>
          <a:xfrm>
            <a:off x="10241280" y="3776472"/>
            <a:ext cx="749808" cy="146304"/>
          </a:xfrm>
          <a:prstGeom prst="rect">
            <a:avLst/>
          </a:prstGeom>
          <a:noFill/>
          <a:ln/>
        </p:spPr>
        <p:txBody>
          <a:bodyPr wrap="square" lIns="0" tIns="0" rIns="0" bIns="0" rtlCol="0" anchor="ctr">
            <a:normAutofit/>
          </a:bodyPr>
          <a:lstStyle/>
          <a:p>
            <a:pPr algn="r" indent="0" marL="0">
              <a:lnSpc>
                <a:spcPct val="100000"/>
              </a:lnSpc>
              <a:buNone/>
            </a:pPr>
            <a:r>
              <a:rPr lang="en-US" sz="1050" b="1" dirty="0">
                <a:solidFill>
                  <a:srgbClr val="006B57"/>
                </a:solidFill>
                <a:latin typeface="Arial" pitchFamily="34" charset="0"/>
                <a:ea typeface="Arial" pitchFamily="34" charset="-122"/>
                <a:cs typeface="Arial" pitchFamily="34" charset="-120"/>
              </a:rPr>
              <a:t>88.000đ</a:t>
            </a:r>
            <a:endParaRPr lang="en-US" sz="1050" dirty="0"/>
          </a:p>
        </p:txBody>
      </p:sp>
      <p:sp>
        <p:nvSpPr>
          <p:cNvPr id="23" name="Shape 21"/>
          <p:cNvSpPr/>
          <p:nvPr/>
        </p:nvSpPr>
        <p:spPr>
          <a:xfrm>
            <a:off x="5989320" y="4178808"/>
            <a:ext cx="5230368" cy="384048"/>
          </a:xfrm>
          <a:prstGeom prst="roundRect">
            <a:avLst>
              <a:gd name="adj" fmla="val 19048"/>
            </a:avLst>
          </a:prstGeom>
          <a:solidFill>
            <a:srgbClr val="FFE4DE"/>
          </a:solidFill>
          <a:ln w="12700">
            <a:solidFill>
              <a:srgbClr val="FFE4DE">
                <a:alpha val="0"/>
              </a:srgbClr>
            </a:solidFill>
            <a:prstDash val="solid"/>
          </a:ln>
        </p:spPr>
      </p:sp>
      <p:sp>
        <p:nvSpPr>
          <p:cNvPr id="24" name="Text 22"/>
          <p:cNvSpPr/>
          <p:nvPr/>
        </p:nvSpPr>
        <p:spPr>
          <a:xfrm>
            <a:off x="6199632" y="4279392"/>
            <a:ext cx="2926080" cy="146304"/>
          </a:xfrm>
          <a:prstGeom prst="rect">
            <a:avLst/>
          </a:prstGeom>
          <a:noFill/>
          <a:ln/>
        </p:spPr>
        <p:txBody>
          <a:bodyPr wrap="square" lIns="0" tIns="0" rIns="0" bIns="0" rtlCol="0" anchor="ctr">
            <a:normAutofit/>
          </a:bodyPr>
          <a:lstStyle/>
          <a:p>
            <a:pPr algn="l" indent="0" marL="0">
              <a:lnSpc>
                <a:spcPct val="100000"/>
              </a:lnSpc>
              <a:buNone/>
            </a:pPr>
            <a:r>
              <a:rPr lang="en-US" sz="1050" dirty="0">
                <a:solidFill>
                  <a:srgbClr val="0B1B2B"/>
                </a:solidFill>
                <a:latin typeface="Arial" pitchFamily="34" charset="0"/>
                <a:ea typeface="Arial" pitchFamily="34" charset="-122"/>
                <a:cs typeface="Arial" pitchFamily="34" charset="-120"/>
              </a:rPr>
              <a:t>Phí nền tảng</a:t>
            </a:r>
            <a:endParaRPr lang="en-US" sz="1050" dirty="0"/>
          </a:p>
        </p:txBody>
      </p:sp>
      <p:sp>
        <p:nvSpPr>
          <p:cNvPr id="25" name="Text 23"/>
          <p:cNvSpPr/>
          <p:nvPr/>
        </p:nvSpPr>
        <p:spPr>
          <a:xfrm>
            <a:off x="10241280" y="4279392"/>
            <a:ext cx="749808" cy="146304"/>
          </a:xfrm>
          <a:prstGeom prst="rect">
            <a:avLst/>
          </a:prstGeom>
          <a:noFill/>
          <a:ln/>
        </p:spPr>
        <p:txBody>
          <a:bodyPr wrap="square" lIns="0" tIns="0" rIns="0" bIns="0" rtlCol="0" anchor="ctr">
            <a:normAutofit/>
          </a:bodyPr>
          <a:lstStyle/>
          <a:p>
            <a:pPr algn="r" indent="0" marL="0">
              <a:lnSpc>
                <a:spcPct val="100000"/>
              </a:lnSpc>
              <a:buNone/>
            </a:pPr>
            <a:r>
              <a:rPr lang="en-US" sz="1050" b="1" dirty="0">
                <a:solidFill>
                  <a:srgbClr val="A34537"/>
                </a:solidFill>
                <a:latin typeface="Arial" pitchFamily="34" charset="0"/>
                <a:ea typeface="Arial" pitchFamily="34" charset="-122"/>
                <a:cs typeface="Arial" pitchFamily="34" charset="-120"/>
              </a:rPr>
              <a:t>12.000đ</a:t>
            </a:r>
            <a:endParaRPr lang="en-US" sz="1050" dirty="0"/>
          </a:p>
        </p:txBody>
      </p:sp>
      <p:sp>
        <p:nvSpPr>
          <p:cNvPr id="26" name="Shape 24"/>
          <p:cNvSpPr/>
          <p:nvPr/>
        </p:nvSpPr>
        <p:spPr>
          <a:xfrm>
            <a:off x="5989320" y="4864608"/>
            <a:ext cx="5230368" cy="365760"/>
          </a:xfrm>
          <a:prstGeom prst="roundRect">
            <a:avLst>
              <a:gd name="adj" fmla="val 20000"/>
            </a:avLst>
          </a:prstGeom>
          <a:solidFill>
            <a:srgbClr val="0B1B2B"/>
          </a:solidFill>
          <a:ln w="12700">
            <a:solidFill>
              <a:srgbClr val="0B1B2B">
                <a:alpha val="0"/>
              </a:srgbClr>
            </a:solidFill>
            <a:prstDash val="solid"/>
          </a:ln>
        </p:spPr>
      </p:sp>
      <p:sp>
        <p:nvSpPr>
          <p:cNvPr id="27" name="Text 25"/>
          <p:cNvSpPr/>
          <p:nvPr/>
        </p:nvSpPr>
        <p:spPr>
          <a:xfrm>
            <a:off x="6144768" y="4965192"/>
            <a:ext cx="4892040" cy="146304"/>
          </a:xfrm>
          <a:prstGeom prst="rect">
            <a:avLst/>
          </a:prstGeom>
          <a:noFill/>
          <a:ln/>
        </p:spPr>
        <p:txBody>
          <a:bodyPr wrap="square" lIns="0" tIns="0" rIns="0" bIns="0" rtlCol="0" anchor="ctr">
            <a:normAutofit/>
          </a:bodyPr>
          <a:lstStyle/>
          <a:p>
            <a:pPr algn="ctr" indent="0" marL="0">
              <a:lnSpc>
                <a:spcPct val="100000"/>
              </a:lnSpc>
              <a:buNone/>
            </a:pPr>
            <a:r>
              <a:rPr lang="en-US" sz="980" b="1" dirty="0">
                <a:solidFill>
                  <a:srgbClr val="FFFFFF"/>
                </a:solidFill>
                <a:latin typeface="Arial" pitchFamily="34" charset="0"/>
                <a:ea typeface="Arial" pitchFamily="34" charset="-122"/>
                <a:cs typeface="Arial" pitchFamily="34" charset="-120"/>
              </a:rPr>
              <a:t>voucher không tự động cộng vào số dư ví</a:t>
            </a:r>
            <a:endParaRPr lang="en-US" sz="980" dirty="0"/>
          </a:p>
        </p:txBody>
      </p:sp>
      <p:sp>
        <p:nvSpPr>
          <p:cNvPr id="28" name="Shape 26"/>
          <p:cNvSpPr/>
          <p:nvPr/>
        </p:nvSpPr>
        <p:spPr>
          <a:xfrm>
            <a:off x="658368" y="5705856"/>
            <a:ext cx="10881360" cy="457200"/>
          </a:xfrm>
          <a:prstGeom prst="roundRect">
            <a:avLst>
              <a:gd name="adj" fmla="val 16000"/>
            </a:avLst>
          </a:prstGeom>
          <a:solidFill>
            <a:srgbClr val="DDF8EE"/>
          </a:solidFill>
          <a:ln w="12700">
            <a:solidFill>
              <a:srgbClr val="DDF8EE">
                <a:alpha val="0"/>
              </a:srgbClr>
            </a:solidFill>
            <a:prstDash val="solid"/>
          </a:ln>
        </p:spPr>
      </p:sp>
      <p:sp>
        <p:nvSpPr>
          <p:cNvPr id="29" name="Text 27"/>
          <p:cNvSpPr/>
          <p:nvPr/>
        </p:nvSpPr>
        <p:spPr>
          <a:xfrm>
            <a:off x="877824" y="5843016"/>
            <a:ext cx="10442448" cy="164592"/>
          </a:xfrm>
          <a:prstGeom prst="rect">
            <a:avLst/>
          </a:prstGeom>
          <a:noFill/>
          <a:ln/>
        </p:spPr>
        <p:txBody>
          <a:bodyPr wrap="square" lIns="0" tIns="0" rIns="0" bIns="0" rtlCol="0" anchor="ctr">
            <a:normAutofit/>
          </a:bodyPr>
          <a:lstStyle/>
          <a:p>
            <a:pPr algn="ctr" indent="0" marL="0">
              <a:lnSpc>
                <a:spcPct val="100000"/>
              </a:lnSpc>
              <a:buNone/>
            </a:pPr>
            <a:r>
              <a:rPr lang="en-US" sz="1120" b="1" dirty="0">
                <a:solidFill>
                  <a:srgbClr val="006B57"/>
                </a:solidFill>
                <a:latin typeface="Arial" pitchFamily="34" charset="0"/>
                <a:ea typeface="Arial" pitchFamily="34" charset="-122"/>
                <a:cs typeface="Arial" pitchFamily="34" charset="-120"/>
              </a:rPr>
              <a:t>Idempotency + ledger entries + debit = credit + audit trail</a:t>
            </a:r>
            <a:endParaRPr lang="en-US" sz="1120" dirty="0"/>
          </a:p>
        </p:txBody>
      </p:sp>
      <p:sp>
        <p:nvSpPr>
          <p:cNvPr id="30" name="Shape 28"/>
          <p:cNvSpPr/>
          <p:nvPr/>
        </p:nvSpPr>
        <p:spPr>
          <a:xfrm>
            <a:off x="502920" y="6419088"/>
            <a:ext cx="11155680" cy="0"/>
          </a:xfrm>
          <a:prstGeom prst="line">
            <a:avLst/>
          </a:prstGeom>
          <a:noFill/>
          <a:ln w="8255">
            <a:solidFill>
              <a:srgbClr val="D9E2E8"/>
            </a:solidFill>
            <a:prstDash val="solid"/>
            <a:headEnd type="none"/>
            <a:tailEnd type="none"/>
          </a:ln>
        </p:spPr>
      </p:sp>
      <p:sp>
        <p:nvSpPr>
          <p:cNvPr id="31" name="Text 29"/>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docs/flows/09-thanh-toan-va-hoan-tien.md</a:t>
            </a:r>
            <a:endParaRPr lang="en-US" sz="750" dirty="0"/>
          </a:p>
        </p:txBody>
      </p:sp>
      <p:sp>
        <p:nvSpPr>
          <p:cNvPr id="32" name="Text 30"/>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09</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566928" y="384048"/>
            <a:ext cx="438912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18C98B"/>
                </a:solidFill>
                <a:latin typeface="Arial" pitchFamily="34" charset="0"/>
                <a:ea typeface="Arial" pitchFamily="34" charset="-122"/>
                <a:cs typeface="Arial" pitchFamily="34" charset="-120"/>
              </a:rPr>
              <a:t>09 • AN TOÀN &amp; ĐỘ TIN CẬY</a:t>
            </a:r>
            <a:endParaRPr lang="en-US" sz="900" dirty="0"/>
          </a:p>
        </p:txBody>
      </p:sp>
      <p:sp>
        <p:nvSpPr>
          <p:cNvPr id="3" name="Text 1"/>
          <p:cNvSpPr/>
          <p:nvPr/>
        </p:nvSpPr>
        <p:spPr>
          <a:xfrm>
            <a:off x="566928" y="658368"/>
            <a:ext cx="9966960" cy="493776"/>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FFFFFF"/>
                </a:solidFill>
                <a:latin typeface="Arial" pitchFamily="34" charset="0"/>
                <a:ea typeface="Arial" pitchFamily="34" charset="-122"/>
                <a:cs typeface="Arial" pitchFamily="34" charset="-120"/>
              </a:rPr>
              <a:t>Tin cậy được thiết kế vào từng transition</a:t>
            </a:r>
            <a:endParaRPr lang="en-US" sz="2800" dirty="0"/>
          </a:p>
        </p:txBody>
      </p:sp>
      <p:sp>
        <p:nvSpPr>
          <p:cNvPr id="4" name="Text 2"/>
          <p:cNvSpPr/>
          <p:nvPr/>
        </p:nvSpPr>
        <p:spPr>
          <a:xfrm>
            <a:off x="585216" y="1234440"/>
            <a:ext cx="10698480" cy="27432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B9C9D5"/>
                </a:solidFill>
                <a:latin typeface="Arial" pitchFamily="34" charset="0"/>
                <a:ea typeface="Arial" pitchFamily="34" charset="-122"/>
                <a:cs typeface="Arial" pitchFamily="34" charset="-120"/>
              </a:rPr>
              <a:t>Tập trung vào đúng người, đúng trạng thái, đúng bằng chứng.</a:t>
            </a:r>
            <a:endParaRPr lang="en-US" sz="1200" dirty="0"/>
          </a:p>
        </p:txBody>
      </p:sp>
      <p:sp>
        <p:nvSpPr>
          <p:cNvPr id="5" name="Shape 3"/>
          <p:cNvSpPr/>
          <p:nvPr/>
        </p:nvSpPr>
        <p:spPr>
          <a:xfrm>
            <a:off x="713232" y="1901952"/>
            <a:ext cx="4956048" cy="1133856"/>
          </a:xfrm>
          <a:prstGeom prst="roundRect">
            <a:avLst>
              <a:gd name="adj" fmla="val 6452"/>
            </a:avLst>
          </a:prstGeom>
          <a:solidFill>
            <a:srgbClr val="13283B"/>
          </a:solidFill>
          <a:ln w="8890">
            <a:solidFill>
              <a:srgbClr val="29445A"/>
            </a:solidFill>
            <a:prstDash val="solid"/>
          </a:ln>
        </p:spPr>
      </p:sp>
      <p:sp>
        <p:nvSpPr>
          <p:cNvPr id="6" name="Shape 4"/>
          <p:cNvSpPr/>
          <p:nvPr/>
        </p:nvSpPr>
        <p:spPr>
          <a:xfrm>
            <a:off x="969264" y="2194560"/>
            <a:ext cx="530352" cy="530352"/>
          </a:xfrm>
          <a:prstGeom prst="ellipse">
            <a:avLst/>
          </a:prstGeom>
          <a:solidFill>
            <a:srgbClr val="DDF8EE"/>
          </a:solidFill>
          <a:ln w="12700">
            <a:solidFill>
              <a:srgbClr val="DDF8EE">
                <a:alpha val="0"/>
              </a:srgbClr>
            </a:solidFill>
            <a:prstDash val="solid"/>
          </a:ln>
        </p:spPr>
      </p:sp>
      <p:sp>
        <p:nvSpPr>
          <p:cNvPr id="7" name="Text 5"/>
          <p:cNvSpPr/>
          <p:nvPr/>
        </p:nvSpPr>
        <p:spPr>
          <a:xfrm>
            <a:off x="969264" y="2340864"/>
            <a:ext cx="530352" cy="137160"/>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18C98B"/>
                </a:solidFill>
                <a:latin typeface="Arial" pitchFamily="34" charset="0"/>
                <a:ea typeface="Arial" pitchFamily="34" charset="-122"/>
                <a:cs typeface="Arial" pitchFamily="34" charset="-120"/>
              </a:rPr>
              <a:t>AUTH</a:t>
            </a:r>
            <a:endParaRPr lang="en-US" sz="850" dirty="0"/>
          </a:p>
        </p:txBody>
      </p:sp>
      <p:sp>
        <p:nvSpPr>
          <p:cNvPr id="8" name="Text 6"/>
          <p:cNvSpPr/>
          <p:nvPr/>
        </p:nvSpPr>
        <p:spPr>
          <a:xfrm>
            <a:off x="1700784" y="2167128"/>
            <a:ext cx="3621024" cy="530352"/>
          </a:xfrm>
          <a:prstGeom prst="rect">
            <a:avLst/>
          </a:prstGeom>
          <a:noFill/>
          <a:ln/>
        </p:spPr>
        <p:txBody>
          <a:bodyPr wrap="square" lIns="0" tIns="0" rIns="0" bIns="0" rtlCol="0" anchor="t">
            <a:normAutofit/>
          </a:bodyP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OTP chỉ xác minh số điện thoại</a:t>
            </a:r>
            <a:endParaRPr lang="en-US" sz="1200" dirty="0"/>
          </a:p>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Sanctum token + secure storage</a:t>
            </a:r>
            <a:endParaRPr lang="en-US" sz="1200" dirty="0"/>
          </a:p>
        </p:txBody>
      </p:sp>
      <p:sp>
        <p:nvSpPr>
          <p:cNvPr id="9" name="Shape 7"/>
          <p:cNvSpPr/>
          <p:nvPr/>
        </p:nvSpPr>
        <p:spPr>
          <a:xfrm>
            <a:off x="1700784" y="2779776"/>
            <a:ext cx="3474720" cy="0"/>
          </a:xfrm>
          <a:prstGeom prst="line">
            <a:avLst/>
          </a:prstGeom>
          <a:noFill/>
          <a:ln w="19050">
            <a:solidFill>
              <a:srgbClr val="18C98B"/>
            </a:solidFill>
            <a:prstDash val="solid"/>
            <a:headEnd type="none"/>
            <a:tailEnd type="none"/>
          </a:ln>
        </p:spPr>
      </p:sp>
      <p:sp>
        <p:nvSpPr>
          <p:cNvPr id="10" name="Shape 8"/>
          <p:cNvSpPr/>
          <p:nvPr/>
        </p:nvSpPr>
        <p:spPr>
          <a:xfrm>
            <a:off x="6291072" y="1901952"/>
            <a:ext cx="4956048" cy="1133856"/>
          </a:xfrm>
          <a:prstGeom prst="roundRect">
            <a:avLst>
              <a:gd name="adj" fmla="val 6452"/>
            </a:avLst>
          </a:prstGeom>
          <a:solidFill>
            <a:srgbClr val="13283B"/>
          </a:solidFill>
          <a:ln w="8890">
            <a:solidFill>
              <a:srgbClr val="29445A"/>
            </a:solidFill>
            <a:prstDash val="solid"/>
          </a:ln>
        </p:spPr>
      </p:sp>
      <p:sp>
        <p:nvSpPr>
          <p:cNvPr id="11" name="Shape 9"/>
          <p:cNvSpPr/>
          <p:nvPr/>
        </p:nvSpPr>
        <p:spPr>
          <a:xfrm>
            <a:off x="6547104" y="2194560"/>
            <a:ext cx="530352" cy="530352"/>
          </a:xfrm>
          <a:prstGeom prst="ellipse">
            <a:avLst/>
          </a:prstGeom>
          <a:solidFill>
            <a:srgbClr val="E7F0FF"/>
          </a:solidFill>
          <a:ln w="12700">
            <a:solidFill>
              <a:srgbClr val="E7F0FF">
                <a:alpha val="0"/>
              </a:srgbClr>
            </a:solidFill>
            <a:prstDash val="solid"/>
          </a:ln>
        </p:spPr>
      </p:sp>
      <p:sp>
        <p:nvSpPr>
          <p:cNvPr id="12" name="Text 10"/>
          <p:cNvSpPr/>
          <p:nvPr/>
        </p:nvSpPr>
        <p:spPr>
          <a:xfrm>
            <a:off x="6547104" y="2340864"/>
            <a:ext cx="530352" cy="137160"/>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4F86D9"/>
                </a:solidFill>
                <a:latin typeface="Arial" pitchFamily="34" charset="0"/>
                <a:ea typeface="Arial" pitchFamily="34" charset="-122"/>
                <a:cs typeface="Arial" pitchFamily="34" charset="-120"/>
              </a:rPr>
              <a:t>ACCESS</a:t>
            </a:r>
            <a:endParaRPr lang="en-US" sz="850" dirty="0"/>
          </a:p>
        </p:txBody>
      </p:sp>
      <p:sp>
        <p:nvSpPr>
          <p:cNvPr id="13" name="Text 11"/>
          <p:cNvSpPr/>
          <p:nvPr/>
        </p:nvSpPr>
        <p:spPr>
          <a:xfrm>
            <a:off x="7278624" y="2167128"/>
            <a:ext cx="3621024" cy="530352"/>
          </a:xfrm>
          <a:prstGeom prst="rect">
            <a:avLst/>
          </a:prstGeom>
          <a:noFill/>
          <a:ln/>
        </p:spPr>
        <p:txBody>
          <a:bodyPr wrap="square" lIns="0" tIns="0" rIns="0" bIns="0" rtlCol="0" anchor="t">
            <a:normAutofit/>
          </a:bodyP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Booking room và file private</a:t>
            </a:r>
            <a:endParaRPr lang="en-US" sz="1200" dirty="0"/>
          </a:p>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được authorize qua worker</a:t>
            </a:r>
            <a:endParaRPr lang="en-US" sz="1200" dirty="0"/>
          </a:p>
        </p:txBody>
      </p:sp>
      <p:sp>
        <p:nvSpPr>
          <p:cNvPr id="14" name="Shape 12"/>
          <p:cNvSpPr/>
          <p:nvPr/>
        </p:nvSpPr>
        <p:spPr>
          <a:xfrm>
            <a:off x="7278624" y="2779776"/>
            <a:ext cx="3474720" cy="0"/>
          </a:xfrm>
          <a:prstGeom prst="line">
            <a:avLst/>
          </a:prstGeom>
          <a:noFill/>
          <a:ln w="19050">
            <a:solidFill>
              <a:srgbClr val="4F86D9"/>
            </a:solidFill>
            <a:prstDash val="solid"/>
            <a:headEnd type="none"/>
            <a:tailEnd type="none"/>
          </a:ln>
        </p:spPr>
      </p:sp>
      <p:sp>
        <p:nvSpPr>
          <p:cNvPr id="15" name="Shape 13"/>
          <p:cNvSpPr/>
          <p:nvPr/>
        </p:nvSpPr>
        <p:spPr>
          <a:xfrm>
            <a:off x="713232" y="3410712"/>
            <a:ext cx="4956048" cy="1133856"/>
          </a:xfrm>
          <a:prstGeom prst="roundRect">
            <a:avLst>
              <a:gd name="adj" fmla="val 6452"/>
            </a:avLst>
          </a:prstGeom>
          <a:solidFill>
            <a:srgbClr val="13283B"/>
          </a:solidFill>
          <a:ln w="8890">
            <a:solidFill>
              <a:srgbClr val="29445A"/>
            </a:solidFill>
            <a:prstDash val="solid"/>
          </a:ln>
        </p:spPr>
      </p:sp>
      <p:sp>
        <p:nvSpPr>
          <p:cNvPr id="16" name="Shape 14"/>
          <p:cNvSpPr/>
          <p:nvPr/>
        </p:nvSpPr>
        <p:spPr>
          <a:xfrm>
            <a:off x="969264" y="3703320"/>
            <a:ext cx="530352" cy="530352"/>
          </a:xfrm>
          <a:prstGeom prst="ellipse">
            <a:avLst/>
          </a:prstGeom>
          <a:solidFill>
            <a:srgbClr val="FFF2CF"/>
          </a:solidFill>
          <a:ln w="12700">
            <a:solidFill>
              <a:srgbClr val="FFF2CF">
                <a:alpha val="0"/>
              </a:srgbClr>
            </a:solidFill>
            <a:prstDash val="solid"/>
          </a:ln>
        </p:spPr>
      </p:sp>
      <p:sp>
        <p:nvSpPr>
          <p:cNvPr id="17" name="Text 15"/>
          <p:cNvSpPr/>
          <p:nvPr/>
        </p:nvSpPr>
        <p:spPr>
          <a:xfrm>
            <a:off x="969264" y="3849624"/>
            <a:ext cx="530352" cy="137160"/>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4B942"/>
                </a:solidFill>
                <a:latin typeface="Arial" pitchFamily="34" charset="0"/>
                <a:ea typeface="Arial" pitchFamily="34" charset="-122"/>
                <a:cs typeface="Arial" pitchFamily="34" charset="-120"/>
              </a:rPr>
              <a:t>DATA</a:t>
            </a:r>
            <a:endParaRPr lang="en-US" sz="850" dirty="0"/>
          </a:p>
        </p:txBody>
      </p:sp>
      <p:sp>
        <p:nvSpPr>
          <p:cNvPr id="18" name="Text 16"/>
          <p:cNvSpPr/>
          <p:nvPr/>
        </p:nvSpPr>
        <p:spPr>
          <a:xfrm>
            <a:off x="1700784" y="3675888"/>
            <a:ext cx="3621024" cy="530352"/>
          </a:xfrm>
          <a:prstGeom prst="rect">
            <a:avLst/>
          </a:prstGeom>
          <a:noFill/>
          <a:ln/>
        </p:spPr>
        <p:txBody>
          <a:bodyPr wrap="square" lIns="0" tIns="0" rIns="0" bIns="0" rtlCol="0" anchor="t">
            <a:normAutofit/>
          </a:bodyP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GPS chỉ lưu snapshot cuối</a:t>
            </a:r>
            <a:endParaRPr lang="en-US" sz="1200" dirty="0"/>
          </a:p>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PII / evidence không public</a:t>
            </a:r>
            <a:endParaRPr lang="en-US" sz="1200" dirty="0"/>
          </a:p>
        </p:txBody>
      </p:sp>
      <p:sp>
        <p:nvSpPr>
          <p:cNvPr id="19" name="Shape 17"/>
          <p:cNvSpPr/>
          <p:nvPr/>
        </p:nvSpPr>
        <p:spPr>
          <a:xfrm>
            <a:off x="1700784" y="4288536"/>
            <a:ext cx="3474720" cy="0"/>
          </a:xfrm>
          <a:prstGeom prst="line">
            <a:avLst/>
          </a:prstGeom>
          <a:noFill/>
          <a:ln w="19050">
            <a:solidFill>
              <a:srgbClr val="F4B942"/>
            </a:solidFill>
            <a:prstDash val="solid"/>
            <a:headEnd type="none"/>
            <a:tailEnd type="none"/>
          </a:ln>
        </p:spPr>
      </p:sp>
      <p:sp>
        <p:nvSpPr>
          <p:cNvPr id="20" name="Shape 18"/>
          <p:cNvSpPr/>
          <p:nvPr/>
        </p:nvSpPr>
        <p:spPr>
          <a:xfrm>
            <a:off x="6291072" y="3410712"/>
            <a:ext cx="4956048" cy="1133856"/>
          </a:xfrm>
          <a:prstGeom prst="roundRect">
            <a:avLst>
              <a:gd name="adj" fmla="val 6452"/>
            </a:avLst>
          </a:prstGeom>
          <a:solidFill>
            <a:srgbClr val="13283B"/>
          </a:solidFill>
          <a:ln w="8890">
            <a:solidFill>
              <a:srgbClr val="29445A"/>
            </a:solidFill>
            <a:prstDash val="solid"/>
          </a:ln>
        </p:spPr>
      </p:sp>
      <p:sp>
        <p:nvSpPr>
          <p:cNvPr id="21" name="Shape 19"/>
          <p:cNvSpPr/>
          <p:nvPr/>
        </p:nvSpPr>
        <p:spPr>
          <a:xfrm>
            <a:off x="6547104" y="3703320"/>
            <a:ext cx="530352" cy="530352"/>
          </a:xfrm>
          <a:prstGeom prst="ellipse">
            <a:avLst/>
          </a:prstGeom>
          <a:solidFill>
            <a:srgbClr val="FFE4DE"/>
          </a:solidFill>
          <a:ln w="12700">
            <a:solidFill>
              <a:srgbClr val="FFE4DE">
                <a:alpha val="0"/>
              </a:srgbClr>
            </a:solidFill>
            <a:prstDash val="solid"/>
          </a:ln>
        </p:spPr>
      </p:sp>
      <p:sp>
        <p:nvSpPr>
          <p:cNvPr id="22" name="Text 20"/>
          <p:cNvSpPr/>
          <p:nvPr/>
        </p:nvSpPr>
        <p:spPr>
          <a:xfrm>
            <a:off x="6547104" y="3849624"/>
            <a:ext cx="530352" cy="137160"/>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36C5B"/>
                </a:solidFill>
                <a:latin typeface="Arial" pitchFamily="34" charset="0"/>
                <a:ea typeface="Arial" pitchFamily="34" charset="-122"/>
                <a:cs typeface="Arial" pitchFamily="34" charset="-120"/>
              </a:rPr>
              <a:t>RECOVERY</a:t>
            </a:r>
            <a:endParaRPr lang="en-US" sz="850" dirty="0"/>
          </a:p>
        </p:txBody>
      </p:sp>
      <p:sp>
        <p:nvSpPr>
          <p:cNvPr id="23" name="Text 21"/>
          <p:cNvSpPr/>
          <p:nvPr/>
        </p:nvSpPr>
        <p:spPr>
          <a:xfrm>
            <a:off x="7278624" y="3675888"/>
            <a:ext cx="3621024" cy="530352"/>
          </a:xfrm>
          <a:prstGeom prst="rect">
            <a:avLst/>
          </a:prstGeom>
          <a:noFill/>
          <a:ln/>
        </p:spPr>
        <p:txBody>
          <a:bodyPr wrap="square" lIns="0" tIns="0" rIns="0" bIns="0" rtlCol="0" anchor="t">
            <a:normAutofit/>
          </a:bodyP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Idempotency + outbox</a:t>
            </a:r>
            <a:endParaRPr lang="en-US" sz="1200" dirty="0"/>
          </a:p>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reconnect lấy snapshot chuẩn</a:t>
            </a:r>
            <a:endParaRPr lang="en-US" sz="1200" dirty="0"/>
          </a:p>
        </p:txBody>
      </p:sp>
      <p:sp>
        <p:nvSpPr>
          <p:cNvPr id="24" name="Shape 22"/>
          <p:cNvSpPr/>
          <p:nvPr/>
        </p:nvSpPr>
        <p:spPr>
          <a:xfrm>
            <a:off x="7278624" y="4288536"/>
            <a:ext cx="3474720" cy="0"/>
          </a:xfrm>
          <a:prstGeom prst="line">
            <a:avLst/>
          </a:prstGeom>
          <a:noFill/>
          <a:ln w="19050">
            <a:solidFill>
              <a:srgbClr val="F36C5B"/>
            </a:solidFill>
            <a:prstDash val="solid"/>
            <a:headEnd type="none"/>
            <a:tailEnd type="none"/>
          </a:ln>
        </p:spPr>
      </p:sp>
      <p:sp>
        <p:nvSpPr>
          <p:cNvPr id="25" name="Shape 23"/>
          <p:cNvSpPr/>
          <p:nvPr/>
        </p:nvSpPr>
        <p:spPr>
          <a:xfrm>
            <a:off x="713232" y="5166360"/>
            <a:ext cx="10552176" cy="694944"/>
          </a:xfrm>
          <a:prstGeom prst="roundRect">
            <a:avLst>
              <a:gd name="adj" fmla="val 10526"/>
            </a:avLst>
          </a:prstGeom>
          <a:solidFill>
            <a:srgbClr val="18C98B"/>
          </a:solidFill>
          <a:ln w="12700">
            <a:solidFill>
              <a:srgbClr val="18C98B">
                <a:alpha val="0"/>
              </a:srgbClr>
            </a:solidFill>
            <a:prstDash val="solid"/>
          </a:ln>
        </p:spPr>
      </p:sp>
      <p:sp>
        <p:nvSpPr>
          <p:cNvPr id="26" name="Text 24"/>
          <p:cNvSpPr/>
          <p:nvPr/>
        </p:nvSpPr>
        <p:spPr>
          <a:xfrm>
            <a:off x="932688" y="5394960"/>
            <a:ext cx="10113264" cy="219456"/>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0B1B2B"/>
                </a:solidFill>
                <a:latin typeface="Arial" pitchFamily="34" charset="0"/>
                <a:ea typeface="Arial" pitchFamily="34" charset="-122"/>
                <a:cs typeface="Arial" pitchFamily="34" charset="-120"/>
              </a:rPr>
              <a:t>Server quyết định trạng thái • client gửi command • mọi transition có history</a:t>
            </a:r>
            <a:endParaRPr lang="en-US" sz="1400" dirty="0"/>
          </a:p>
        </p:txBody>
      </p:sp>
      <p:sp>
        <p:nvSpPr>
          <p:cNvPr id="27" name="Text 25"/>
          <p:cNvSpPr/>
          <p:nvPr/>
        </p:nvSpPr>
        <p:spPr>
          <a:xfrm>
            <a:off x="749808" y="6016752"/>
            <a:ext cx="10332720" cy="164592"/>
          </a:xfrm>
          <a:prstGeom prst="rect">
            <a:avLst/>
          </a:prstGeom>
          <a:noFill/>
          <a:ln/>
        </p:spPr>
        <p:txBody>
          <a:bodyPr wrap="square" lIns="0" tIns="0" rIns="0" bIns="0" rtlCol="0" anchor="ctr">
            <a:normAutofit/>
          </a:bodyPr>
          <a:lstStyle/>
          <a:p>
            <a:pPr algn="ctr" indent="0" marL="0">
              <a:lnSpc>
                <a:spcPct val="100000"/>
              </a:lnSpc>
              <a:buNone/>
            </a:pPr>
            <a:r>
              <a:rPr lang="en-US" sz="1050" i="1" dirty="0">
                <a:solidFill>
                  <a:srgbClr val="B9C9D5"/>
                </a:solidFill>
                <a:latin typeface="Arial" pitchFamily="34" charset="0"/>
                <a:ea typeface="Arial" pitchFamily="34" charset="-122"/>
                <a:cs typeface="Arial" pitchFamily="34" charset="-120"/>
              </a:rPr>
              <a:t>Đây là đường biên an toàn quan trọng nhất của hệ thống.</a:t>
            </a:r>
            <a:endParaRPr lang="en-US" sz="10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384048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0E8F82"/>
                </a:solidFill>
                <a:latin typeface="Arial" pitchFamily="34" charset="0"/>
                <a:ea typeface="Arial" pitchFamily="34" charset="-122"/>
                <a:cs typeface="Arial" pitchFamily="34" charset="-120"/>
              </a:rPr>
              <a:t>10 • KẾT QUẢ</a:t>
            </a:r>
            <a:endParaRPr lang="en-US" sz="900" dirty="0"/>
          </a:p>
        </p:txBody>
      </p:sp>
      <p:sp>
        <p:nvSpPr>
          <p:cNvPr id="3" name="Text 1"/>
          <p:cNvSpPr/>
          <p:nvPr/>
        </p:nvSpPr>
        <p:spPr>
          <a:xfrm>
            <a:off x="566928" y="658368"/>
            <a:ext cx="10698480" cy="50292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0B1B2B"/>
                </a:solidFill>
                <a:latin typeface="Arial" pitchFamily="34" charset="0"/>
                <a:ea typeface="Arial" pitchFamily="34" charset="-122"/>
                <a:cs typeface="Arial" pitchFamily="34" charset="-120"/>
              </a:rPr>
              <a:t>MVP đã đi qua end-to-end; còn lại là hardening</a:t>
            </a:r>
            <a:endParaRPr lang="en-US" sz="2800" dirty="0"/>
          </a:p>
        </p:txBody>
      </p:sp>
      <p:sp>
        <p:nvSpPr>
          <p:cNvPr id="4" name="Text 2"/>
          <p:cNvSpPr/>
          <p:nvPr/>
        </p:nvSpPr>
        <p:spPr>
          <a:xfrm>
            <a:off x="585216" y="1234440"/>
            <a:ext cx="10698480" cy="310896"/>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617180"/>
                </a:solidFill>
                <a:latin typeface="Arial" pitchFamily="34" charset="0"/>
                <a:ea typeface="Arial" pitchFamily="34" charset="-122"/>
                <a:cs typeface="Arial" pitchFamily="34" charset="-120"/>
              </a:rPr>
              <a:t>Các phase nghiệp vụ và mobile đã hoàn tất theo implementation plan.</a:t>
            </a:r>
            <a:endParaRPr lang="en-US" sz="1200" dirty="0"/>
          </a:p>
        </p:txBody>
      </p:sp>
      <p:sp>
        <p:nvSpPr>
          <p:cNvPr id="5" name="Shape 3"/>
          <p:cNvSpPr/>
          <p:nvPr/>
        </p:nvSpPr>
        <p:spPr>
          <a:xfrm>
            <a:off x="658368" y="1828800"/>
            <a:ext cx="1993392" cy="1261872"/>
          </a:xfrm>
          <a:prstGeom prst="roundRect">
            <a:avLst>
              <a:gd name="adj" fmla="val 5797"/>
            </a:avLst>
          </a:prstGeom>
          <a:solidFill>
            <a:srgbClr val="DDF8EE"/>
          </a:solidFill>
          <a:ln w="12700">
            <a:solidFill>
              <a:srgbClr val="DDF8EE">
                <a:alpha val="0"/>
              </a:srgbClr>
            </a:solidFill>
            <a:prstDash val="solid"/>
          </a:ln>
        </p:spPr>
      </p:sp>
      <p:sp>
        <p:nvSpPr>
          <p:cNvPr id="6" name="Text 4"/>
          <p:cNvSpPr/>
          <p:nvPr/>
        </p:nvSpPr>
        <p:spPr>
          <a:xfrm>
            <a:off x="822960" y="2029968"/>
            <a:ext cx="548640" cy="25603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4F86D9"/>
                </a:solidFill>
                <a:latin typeface="Arial" pitchFamily="34" charset="0"/>
                <a:ea typeface="Arial" pitchFamily="34" charset="-122"/>
                <a:cs typeface="Arial" pitchFamily="34" charset="-120"/>
              </a:rPr>
              <a:t>0–4</a:t>
            </a:r>
            <a:endParaRPr lang="en-US" sz="2000" dirty="0"/>
          </a:p>
        </p:txBody>
      </p:sp>
      <p:sp>
        <p:nvSpPr>
          <p:cNvPr id="7" name="Text 5"/>
          <p:cNvSpPr/>
          <p:nvPr/>
        </p:nvSpPr>
        <p:spPr>
          <a:xfrm>
            <a:off x="822960" y="2468880"/>
            <a:ext cx="1627632" cy="29260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Foundation → request</a:t>
            </a:r>
            <a:endParaRPr lang="en-US" sz="1050" dirty="0"/>
          </a:p>
        </p:txBody>
      </p:sp>
      <p:sp>
        <p:nvSpPr>
          <p:cNvPr id="8" name="Text 6"/>
          <p:cNvSpPr/>
          <p:nvPr/>
        </p:nvSpPr>
        <p:spPr>
          <a:xfrm>
            <a:off x="822960" y="2834640"/>
            <a:ext cx="1591056" cy="146304"/>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4F86D9"/>
                </a:solidFill>
                <a:latin typeface="Arial" pitchFamily="34" charset="0"/>
                <a:ea typeface="Arial" pitchFamily="34" charset="-122"/>
                <a:cs typeface="Arial" pitchFamily="34" charset="-120"/>
              </a:rPr>
              <a:t>COMPLETED</a:t>
            </a:r>
            <a:endParaRPr lang="en-US" sz="850" dirty="0"/>
          </a:p>
        </p:txBody>
      </p:sp>
      <p:sp>
        <p:nvSpPr>
          <p:cNvPr id="9" name="Shape 7"/>
          <p:cNvSpPr/>
          <p:nvPr/>
        </p:nvSpPr>
        <p:spPr>
          <a:xfrm>
            <a:off x="2926080" y="1828800"/>
            <a:ext cx="1993392" cy="1261872"/>
          </a:xfrm>
          <a:prstGeom prst="roundRect">
            <a:avLst>
              <a:gd name="adj" fmla="val 5797"/>
            </a:avLst>
          </a:prstGeom>
          <a:solidFill>
            <a:srgbClr val="DDF8EE"/>
          </a:solidFill>
          <a:ln w="12700">
            <a:solidFill>
              <a:srgbClr val="DDF8EE">
                <a:alpha val="0"/>
              </a:srgbClr>
            </a:solidFill>
            <a:prstDash val="solid"/>
          </a:ln>
        </p:spPr>
      </p:sp>
      <p:sp>
        <p:nvSpPr>
          <p:cNvPr id="10" name="Text 8"/>
          <p:cNvSpPr/>
          <p:nvPr/>
        </p:nvSpPr>
        <p:spPr>
          <a:xfrm>
            <a:off x="3090672" y="2029968"/>
            <a:ext cx="548640" cy="25603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006B57"/>
                </a:solidFill>
                <a:latin typeface="Arial" pitchFamily="34" charset="0"/>
                <a:ea typeface="Arial" pitchFamily="34" charset="-122"/>
                <a:cs typeface="Arial" pitchFamily="34" charset="-120"/>
              </a:rPr>
              <a:t>5–6</a:t>
            </a:r>
            <a:endParaRPr lang="en-US" sz="2000" dirty="0"/>
          </a:p>
        </p:txBody>
      </p:sp>
      <p:sp>
        <p:nvSpPr>
          <p:cNvPr id="11" name="Text 9"/>
          <p:cNvSpPr/>
          <p:nvPr/>
        </p:nvSpPr>
        <p:spPr>
          <a:xfrm>
            <a:off x="3090672" y="2468880"/>
            <a:ext cx="1627632" cy="29260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Matching → execution</a:t>
            </a:r>
            <a:endParaRPr lang="en-US" sz="1050" dirty="0"/>
          </a:p>
        </p:txBody>
      </p:sp>
      <p:sp>
        <p:nvSpPr>
          <p:cNvPr id="12" name="Text 10"/>
          <p:cNvSpPr/>
          <p:nvPr/>
        </p:nvSpPr>
        <p:spPr>
          <a:xfrm>
            <a:off x="3090672" y="2834640"/>
            <a:ext cx="1591056" cy="146304"/>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006B57"/>
                </a:solidFill>
                <a:latin typeface="Arial" pitchFamily="34" charset="0"/>
                <a:ea typeface="Arial" pitchFamily="34" charset="-122"/>
                <a:cs typeface="Arial" pitchFamily="34" charset="-120"/>
              </a:rPr>
              <a:t>COMPLETED</a:t>
            </a:r>
            <a:endParaRPr lang="en-US" sz="850" dirty="0"/>
          </a:p>
        </p:txBody>
      </p:sp>
      <p:sp>
        <p:nvSpPr>
          <p:cNvPr id="13" name="Shape 11"/>
          <p:cNvSpPr/>
          <p:nvPr/>
        </p:nvSpPr>
        <p:spPr>
          <a:xfrm>
            <a:off x="5193792" y="1828800"/>
            <a:ext cx="1993392" cy="1261872"/>
          </a:xfrm>
          <a:prstGeom prst="roundRect">
            <a:avLst>
              <a:gd name="adj" fmla="val 5797"/>
            </a:avLst>
          </a:prstGeom>
          <a:solidFill>
            <a:srgbClr val="DDF8EE"/>
          </a:solidFill>
          <a:ln w="12700">
            <a:solidFill>
              <a:srgbClr val="DDF8EE">
                <a:alpha val="0"/>
              </a:srgbClr>
            </a:solidFill>
            <a:prstDash val="solid"/>
          </a:ln>
        </p:spPr>
      </p:sp>
      <p:sp>
        <p:nvSpPr>
          <p:cNvPr id="14" name="Text 12"/>
          <p:cNvSpPr/>
          <p:nvPr/>
        </p:nvSpPr>
        <p:spPr>
          <a:xfrm>
            <a:off x="5358384" y="2029968"/>
            <a:ext cx="548640" cy="25603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9A6400"/>
                </a:solidFill>
                <a:latin typeface="Arial" pitchFamily="34" charset="0"/>
                <a:ea typeface="Arial" pitchFamily="34" charset="-122"/>
                <a:cs typeface="Arial" pitchFamily="34" charset="-120"/>
              </a:rPr>
              <a:t>7–8</a:t>
            </a:r>
            <a:endParaRPr lang="en-US" sz="2000" dirty="0"/>
          </a:p>
        </p:txBody>
      </p:sp>
      <p:sp>
        <p:nvSpPr>
          <p:cNvPr id="15" name="Text 13"/>
          <p:cNvSpPr/>
          <p:nvPr/>
        </p:nvSpPr>
        <p:spPr>
          <a:xfrm>
            <a:off x="5358384" y="2468880"/>
            <a:ext cx="1627632" cy="29260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Finance → support</a:t>
            </a:r>
            <a:endParaRPr lang="en-US" sz="1050" dirty="0"/>
          </a:p>
        </p:txBody>
      </p:sp>
      <p:sp>
        <p:nvSpPr>
          <p:cNvPr id="16" name="Text 14"/>
          <p:cNvSpPr/>
          <p:nvPr/>
        </p:nvSpPr>
        <p:spPr>
          <a:xfrm>
            <a:off x="5358384" y="2834640"/>
            <a:ext cx="1591056" cy="146304"/>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9A6400"/>
                </a:solidFill>
                <a:latin typeface="Arial" pitchFamily="34" charset="0"/>
                <a:ea typeface="Arial" pitchFamily="34" charset="-122"/>
                <a:cs typeface="Arial" pitchFamily="34" charset="-120"/>
              </a:rPr>
              <a:t>COMPLETED</a:t>
            </a:r>
            <a:endParaRPr lang="en-US" sz="850" dirty="0"/>
          </a:p>
        </p:txBody>
      </p:sp>
      <p:sp>
        <p:nvSpPr>
          <p:cNvPr id="17" name="Shape 15"/>
          <p:cNvSpPr/>
          <p:nvPr/>
        </p:nvSpPr>
        <p:spPr>
          <a:xfrm>
            <a:off x="7461504" y="1828800"/>
            <a:ext cx="1993392" cy="1261872"/>
          </a:xfrm>
          <a:prstGeom prst="roundRect">
            <a:avLst>
              <a:gd name="adj" fmla="val 5797"/>
            </a:avLst>
          </a:prstGeom>
          <a:solidFill>
            <a:srgbClr val="DDF8EE"/>
          </a:solidFill>
          <a:ln w="12700">
            <a:solidFill>
              <a:srgbClr val="DDF8EE">
                <a:alpha val="0"/>
              </a:srgbClr>
            </a:solidFill>
            <a:prstDash val="solid"/>
          </a:ln>
        </p:spPr>
      </p:sp>
      <p:sp>
        <p:nvSpPr>
          <p:cNvPr id="18" name="Text 16"/>
          <p:cNvSpPr/>
          <p:nvPr/>
        </p:nvSpPr>
        <p:spPr>
          <a:xfrm>
            <a:off x="7626096" y="2029968"/>
            <a:ext cx="548640" cy="25603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0E8F82"/>
                </a:solidFill>
                <a:latin typeface="Arial" pitchFamily="34" charset="0"/>
                <a:ea typeface="Arial" pitchFamily="34" charset="-122"/>
                <a:cs typeface="Arial" pitchFamily="34" charset="-120"/>
              </a:rPr>
              <a:t>9–10</a:t>
            </a:r>
            <a:endParaRPr lang="en-US" sz="2000" dirty="0"/>
          </a:p>
        </p:txBody>
      </p:sp>
      <p:sp>
        <p:nvSpPr>
          <p:cNvPr id="19" name="Text 17"/>
          <p:cNvSpPr/>
          <p:nvPr/>
        </p:nvSpPr>
        <p:spPr>
          <a:xfrm>
            <a:off x="7626096" y="2468880"/>
            <a:ext cx="1627632" cy="29260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Customer + driver app</a:t>
            </a:r>
            <a:endParaRPr lang="en-US" sz="1050" dirty="0"/>
          </a:p>
        </p:txBody>
      </p:sp>
      <p:sp>
        <p:nvSpPr>
          <p:cNvPr id="20" name="Text 18"/>
          <p:cNvSpPr/>
          <p:nvPr/>
        </p:nvSpPr>
        <p:spPr>
          <a:xfrm>
            <a:off x="7626096" y="2834640"/>
            <a:ext cx="1591056" cy="146304"/>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0E8F82"/>
                </a:solidFill>
                <a:latin typeface="Arial" pitchFamily="34" charset="0"/>
                <a:ea typeface="Arial" pitchFamily="34" charset="-122"/>
                <a:cs typeface="Arial" pitchFamily="34" charset="-120"/>
              </a:rPr>
              <a:t>COMPLETED</a:t>
            </a:r>
            <a:endParaRPr lang="en-US" sz="850" dirty="0"/>
          </a:p>
        </p:txBody>
      </p:sp>
      <p:sp>
        <p:nvSpPr>
          <p:cNvPr id="21" name="Shape 19"/>
          <p:cNvSpPr/>
          <p:nvPr/>
        </p:nvSpPr>
        <p:spPr>
          <a:xfrm>
            <a:off x="9729216" y="1828800"/>
            <a:ext cx="1993392" cy="1261872"/>
          </a:xfrm>
          <a:prstGeom prst="roundRect">
            <a:avLst>
              <a:gd name="adj" fmla="val 5797"/>
            </a:avLst>
          </a:prstGeom>
          <a:solidFill>
            <a:srgbClr val="FFE4DE"/>
          </a:solidFill>
          <a:ln w="12700">
            <a:solidFill>
              <a:srgbClr val="FFE4DE">
                <a:alpha val="0"/>
              </a:srgbClr>
            </a:solidFill>
            <a:prstDash val="solid"/>
          </a:ln>
        </p:spPr>
      </p:sp>
      <p:sp>
        <p:nvSpPr>
          <p:cNvPr id="22" name="Text 20"/>
          <p:cNvSpPr/>
          <p:nvPr/>
        </p:nvSpPr>
        <p:spPr>
          <a:xfrm>
            <a:off x="9893808" y="2029968"/>
            <a:ext cx="548640" cy="25603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36C5B"/>
                </a:solidFill>
                <a:latin typeface="Arial" pitchFamily="34" charset="0"/>
                <a:ea typeface="Arial" pitchFamily="34" charset="-122"/>
                <a:cs typeface="Arial" pitchFamily="34" charset="-120"/>
              </a:rPr>
              <a:t>11</a:t>
            </a:r>
            <a:endParaRPr lang="en-US" sz="2000" dirty="0"/>
          </a:p>
        </p:txBody>
      </p:sp>
      <p:sp>
        <p:nvSpPr>
          <p:cNvPr id="23" name="Text 21"/>
          <p:cNvSpPr/>
          <p:nvPr/>
        </p:nvSpPr>
        <p:spPr>
          <a:xfrm>
            <a:off x="9893808" y="2468880"/>
            <a:ext cx="1627632" cy="29260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0B1B2B"/>
                </a:solidFill>
                <a:latin typeface="Arial" pitchFamily="34" charset="0"/>
                <a:ea typeface="Arial" pitchFamily="34" charset="-122"/>
                <a:cs typeface="Arial" pitchFamily="34" charset="-120"/>
              </a:rPr>
              <a:t>Hardening / demo seed</a:t>
            </a:r>
            <a:endParaRPr lang="en-US" sz="1050" dirty="0"/>
          </a:p>
        </p:txBody>
      </p:sp>
      <p:sp>
        <p:nvSpPr>
          <p:cNvPr id="24" name="Text 22"/>
          <p:cNvSpPr/>
          <p:nvPr/>
        </p:nvSpPr>
        <p:spPr>
          <a:xfrm>
            <a:off x="9893808" y="2834640"/>
            <a:ext cx="1591056" cy="146304"/>
          </a:xfrm>
          <a:prstGeom prst="rect">
            <a:avLst/>
          </a:prstGeom>
          <a:noFill/>
          <a:ln/>
        </p:spPr>
        <p:txBody>
          <a:bodyPr wrap="square" lIns="0" tIns="0" rIns="0" bIns="0" rtlCol="0" anchor="ctr">
            <a:normAutofit/>
          </a:bodyPr>
          <a:lstStyle/>
          <a:p>
            <a:pPr algn="l" indent="0" marL="0">
              <a:lnSpc>
                <a:spcPct val="100000"/>
              </a:lnSpc>
              <a:buNone/>
            </a:pPr>
            <a:r>
              <a:rPr lang="en-US" sz="850" b="1" dirty="0">
                <a:solidFill>
                  <a:srgbClr val="F36C5B"/>
                </a:solidFill>
                <a:latin typeface="Arial" pitchFamily="34" charset="0"/>
                <a:ea typeface="Arial" pitchFamily="34" charset="-122"/>
                <a:cs typeface="Arial" pitchFamily="34" charset="-120"/>
              </a:rPr>
              <a:t>PENDING</a:t>
            </a:r>
            <a:endParaRPr lang="en-US" sz="850" dirty="0"/>
          </a:p>
        </p:txBody>
      </p:sp>
      <p:sp>
        <p:nvSpPr>
          <p:cNvPr id="25" name="Text 23"/>
          <p:cNvSpPr/>
          <p:nvPr/>
        </p:nvSpPr>
        <p:spPr>
          <a:xfrm>
            <a:off x="658368" y="3730752"/>
            <a:ext cx="3474720" cy="25603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0B1B2B"/>
                </a:solidFill>
                <a:latin typeface="Arial" pitchFamily="34" charset="0"/>
                <a:ea typeface="Arial" pitchFamily="34" charset="-122"/>
                <a:cs typeface="Arial" pitchFamily="34" charset="-120"/>
              </a:rPr>
              <a:t>Dấu vết kiểm chứng trong repo</a:t>
            </a:r>
            <a:endParaRPr lang="en-US" sz="1600" dirty="0"/>
          </a:p>
        </p:txBody>
      </p:sp>
      <p:sp>
        <p:nvSpPr>
          <p:cNvPr id="26" name="Shape 24"/>
          <p:cNvSpPr/>
          <p:nvPr/>
        </p:nvSpPr>
        <p:spPr>
          <a:xfrm>
            <a:off x="658368" y="4224528"/>
            <a:ext cx="1993392" cy="1042416"/>
          </a:xfrm>
          <a:prstGeom prst="roundRect">
            <a:avLst>
              <a:gd name="adj" fmla="val 7018"/>
            </a:avLst>
          </a:prstGeom>
          <a:solidFill>
            <a:srgbClr val="FFFFFF"/>
          </a:solidFill>
          <a:ln w="8890">
            <a:solidFill>
              <a:srgbClr val="D9E2E8"/>
            </a:solidFill>
            <a:prstDash val="solid"/>
          </a:ln>
        </p:spPr>
      </p:sp>
      <p:sp>
        <p:nvSpPr>
          <p:cNvPr id="27" name="Text 25"/>
          <p:cNvSpPr/>
          <p:nvPr/>
        </p:nvSpPr>
        <p:spPr>
          <a:xfrm>
            <a:off x="804672" y="4407408"/>
            <a:ext cx="658368" cy="329184"/>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0E8F82"/>
                </a:solidFill>
                <a:latin typeface="Arial" pitchFamily="34" charset="0"/>
                <a:ea typeface="Arial" pitchFamily="34" charset="-122"/>
                <a:cs typeface="Arial" pitchFamily="34" charset="-120"/>
              </a:rPr>
              <a:t>50</a:t>
            </a:r>
            <a:endParaRPr lang="en-US" sz="2400" dirty="0"/>
          </a:p>
        </p:txBody>
      </p:sp>
      <p:sp>
        <p:nvSpPr>
          <p:cNvPr id="28" name="Text 26"/>
          <p:cNvSpPr/>
          <p:nvPr/>
        </p:nvSpPr>
        <p:spPr>
          <a:xfrm>
            <a:off x="822960" y="4846320"/>
            <a:ext cx="1627632" cy="182880"/>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617180"/>
                </a:solidFill>
                <a:latin typeface="Arial" pitchFamily="34" charset="0"/>
                <a:ea typeface="Arial" pitchFamily="34" charset="-122"/>
                <a:cs typeface="Arial" pitchFamily="34" charset="-120"/>
              </a:rPr>
              <a:t>API controllers</a:t>
            </a:r>
            <a:endParaRPr lang="en-US" sz="940" dirty="0"/>
          </a:p>
        </p:txBody>
      </p:sp>
      <p:sp>
        <p:nvSpPr>
          <p:cNvPr id="29" name="Shape 27"/>
          <p:cNvSpPr/>
          <p:nvPr/>
        </p:nvSpPr>
        <p:spPr>
          <a:xfrm>
            <a:off x="2926080" y="4224528"/>
            <a:ext cx="1993392" cy="1042416"/>
          </a:xfrm>
          <a:prstGeom prst="roundRect">
            <a:avLst>
              <a:gd name="adj" fmla="val 7018"/>
            </a:avLst>
          </a:prstGeom>
          <a:solidFill>
            <a:srgbClr val="FFFFFF"/>
          </a:solidFill>
          <a:ln w="8890">
            <a:solidFill>
              <a:srgbClr val="D9E2E8"/>
            </a:solidFill>
            <a:prstDash val="solid"/>
          </a:ln>
        </p:spPr>
      </p:sp>
      <p:sp>
        <p:nvSpPr>
          <p:cNvPr id="30" name="Text 28"/>
          <p:cNvSpPr/>
          <p:nvPr/>
        </p:nvSpPr>
        <p:spPr>
          <a:xfrm>
            <a:off x="3072384" y="4407408"/>
            <a:ext cx="658368" cy="329184"/>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0B1B2B"/>
                </a:solidFill>
                <a:latin typeface="Arial" pitchFamily="34" charset="0"/>
                <a:ea typeface="Arial" pitchFamily="34" charset="-122"/>
                <a:cs typeface="Arial" pitchFamily="34" charset="-120"/>
              </a:rPr>
              <a:t>52</a:t>
            </a:r>
            <a:endParaRPr lang="en-US" sz="2400" dirty="0"/>
          </a:p>
        </p:txBody>
      </p:sp>
      <p:sp>
        <p:nvSpPr>
          <p:cNvPr id="31" name="Text 29"/>
          <p:cNvSpPr/>
          <p:nvPr/>
        </p:nvSpPr>
        <p:spPr>
          <a:xfrm>
            <a:off x="3090672" y="4846320"/>
            <a:ext cx="1627632" cy="182880"/>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617180"/>
                </a:solidFill>
                <a:latin typeface="Arial" pitchFamily="34" charset="0"/>
                <a:ea typeface="Arial" pitchFamily="34" charset="-122"/>
                <a:cs typeface="Arial" pitchFamily="34" charset="-120"/>
              </a:rPr>
              <a:t>domain models</a:t>
            </a:r>
            <a:endParaRPr lang="en-US" sz="940" dirty="0"/>
          </a:p>
        </p:txBody>
      </p:sp>
      <p:sp>
        <p:nvSpPr>
          <p:cNvPr id="32" name="Shape 30"/>
          <p:cNvSpPr/>
          <p:nvPr/>
        </p:nvSpPr>
        <p:spPr>
          <a:xfrm>
            <a:off x="5193792" y="4224528"/>
            <a:ext cx="1993392" cy="1042416"/>
          </a:xfrm>
          <a:prstGeom prst="roundRect">
            <a:avLst>
              <a:gd name="adj" fmla="val 7018"/>
            </a:avLst>
          </a:prstGeom>
          <a:solidFill>
            <a:srgbClr val="FFFFFF"/>
          </a:solidFill>
          <a:ln w="8890">
            <a:solidFill>
              <a:srgbClr val="D9E2E8"/>
            </a:solidFill>
            <a:prstDash val="solid"/>
          </a:ln>
        </p:spPr>
      </p:sp>
      <p:sp>
        <p:nvSpPr>
          <p:cNvPr id="33" name="Text 31"/>
          <p:cNvSpPr/>
          <p:nvPr/>
        </p:nvSpPr>
        <p:spPr>
          <a:xfrm>
            <a:off x="5340096" y="4407408"/>
            <a:ext cx="658368" cy="329184"/>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0B1B2B"/>
                </a:solidFill>
                <a:latin typeface="Arial" pitchFamily="34" charset="0"/>
                <a:ea typeface="Arial" pitchFamily="34" charset="-122"/>
                <a:cs typeface="Arial" pitchFamily="34" charset="-120"/>
              </a:rPr>
              <a:t>21</a:t>
            </a:r>
            <a:endParaRPr lang="en-US" sz="2400" dirty="0"/>
          </a:p>
        </p:txBody>
      </p:sp>
      <p:sp>
        <p:nvSpPr>
          <p:cNvPr id="34" name="Text 32"/>
          <p:cNvSpPr/>
          <p:nvPr/>
        </p:nvSpPr>
        <p:spPr>
          <a:xfrm>
            <a:off x="5358384" y="4846320"/>
            <a:ext cx="1627632" cy="182880"/>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617180"/>
                </a:solidFill>
                <a:latin typeface="Arial" pitchFamily="34" charset="0"/>
                <a:ea typeface="Arial" pitchFamily="34" charset="-122"/>
                <a:cs typeface="Arial" pitchFamily="34" charset="-120"/>
              </a:rPr>
              <a:t>database migrations</a:t>
            </a:r>
            <a:endParaRPr lang="en-US" sz="940" dirty="0"/>
          </a:p>
        </p:txBody>
      </p:sp>
      <p:sp>
        <p:nvSpPr>
          <p:cNvPr id="35" name="Shape 33"/>
          <p:cNvSpPr/>
          <p:nvPr/>
        </p:nvSpPr>
        <p:spPr>
          <a:xfrm>
            <a:off x="7461504" y="4224528"/>
            <a:ext cx="1993392" cy="1042416"/>
          </a:xfrm>
          <a:prstGeom prst="roundRect">
            <a:avLst>
              <a:gd name="adj" fmla="val 7018"/>
            </a:avLst>
          </a:prstGeom>
          <a:solidFill>
            <a:srgbClr val="FFFFFF"/>
          </a:solidFill>
          <a:ln w="8890">
            <a:solidFill>
              <a:srgbClr val="D9E2E8"/>
            </a:solidFill>
            <a:prstDash val="solid"/>
          </a:ln>
        </p:spPr>
      </p:sp>
      <p:sp>
        <p:nvSpPr>
          <p:cNvPr id="36" name="Text 34"/>
          <p:cNvSpPr/>
          <p:nvPr/>
        </p:nvSpPr>
        <p:spPr>
          <a:xfrm>
            <a:off x="7607808" y="4407408"/>
            <a:ext cx="658368" cy="329184"/>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0B1B2B"/>
                </a:solidFill>
                <a:latin typeface="Arial" pitchFamily="34" charset="0"/>
                <a:ea typeface="Arial" pitchFamily="34" charset="-122"/>
                <a:cs typeface="Arial" pitchFamily="34" charset="-120"/>
              </a:rPr>
              <a:t>35</a:t>
            </a:r>
            <a:endParaRPr lang="en-US" sz="2400" dirty="0"/>
          </a:p>
        </p:txBody>
      </p:sp>
      <p:sp>
        <p:nvSpPr>
          <p:cNvPr id="37" name="Text 35"/>
          <p:cNvSpPr/>
          <p:nvPr/>
        </p:nvSpPr>
        <p:spPr>
          <a:xfrm>
            <a:off x="7626096" y="4846320"/>
            <a:ext cx="1627632" cy="182880"/>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617180"/>
                </a:solidFill>
                <a:latin typeface="Arial" pitchFamily="34" charset="0"/>
                <a:ea typeface="Arial" pitchFamily="34" charset="-122"/>
                <a:cs typeface="Arial" pitchFamily="34" charset="-120"/>
              </a:rPr>
              <a:t>PHP test files</a:t>
            </a:r>
            <a:endParaRPr lang="en-US" sz="940" dirty="0"/>
          </a:p>
        </p:txBody>
      </p:sp>
      <p:sp>
        <p:nvSpPr>
          <p:cNvPr id="38" name="Shape 36"/>
          <p:cNvSpPr/>
          <p:nvPr/>
        </p:nvSpPr>
        <p:spPr>
          <a:xfrm>
            <a:off x="9729216" y="4224528"/>
            <a:ext cx="1993392" cy="1042416"/>
          </a:xfrm>
          <a:prstGeom prst="roundRect">
            <a:avLst>
              <a:gd name="adj" fmla="val 7018"/>
            </a:avLst>
          </a:prstGeom>
          <a:solidFill>
            <a:srgbClr val="FFFFFF"/>
          </a:solidFill>
          <a:ln w="8890">
            <a:solidFill>
              <a:srgbClr val="D9E2E8"/>
            </a:solidFill>
            <a:prstDash val="solid"/>
          </a:ln>
        </p:spPr>
      </p:sp>
      <p:sp>
        <p:nvSpPr>
          <p:cNvPr id="39" name="Text 37"/>
          <p:cNvSpPr/>
          <p:nvPr/>
        </p:nvSpPr>
        <p:spPr>
          <a:xfrm>
            <a:off x="9875520" y="4407408"/>
            <a:ext cx="658368" cy="329184"/>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0B1B2B"/>
                </a:solidFill>
                <a:latin typeface="Arial" pitchFamily="34" charset="0"/>
                <a:ea typeface="Arial" pitchFamily="34" charset="-122"/>
                <a:cs typeface="Arial" pitchFamily="34" charset="-120"/>
              </a:rPr>
              <a:t>13</a:t>
            </a:r>
            <a:endParaRPr lang="en-US" sz="2400" dirty="0"/>
          </a:p>
        </p:txBody>
      </p:sp>
      <p:sp>
        <p:nvSpPr>
          <p:cNvPr id="40" name="Text 38"/>
          <p:cNvSpPr/>
          <p:nvPr/>
        </p:nvSpPr>
        <p:spPr>
          <a:xfrm>
            <a:off x="9893808" y="4846320"/>
            <a:ext cx="1627632" cy="182880"/>
          </a:xfrm>
          <a:prstGeom prst="rect">
            <a:avLst/>
          </a:prstGeom>
          <a:noFill/>
          <a:ln/>
        </p:spPr>
        <p:txBody>
          <a:bodyPr wrap="square" lIns="0" tIns="0" rIns="0" bIns="0" rtlCol="0" anchor="ctr">
            <a:normAutofit/>
          </a:bodyPr>
          <a:lstStyle/>
          <a:p>
            <a:pPr algn="l" indent="0" marL="0">
              <a:lnSpc>
                <a:spcPct val="100000"/>
              </a:lnSpc>
              <a:buNone/>
            </a:pPr>
            <a:r>
              <a:rPr lang="en-US" sz="940" b="1" dirty="0">
                <a:solidFill>
                  <a:srgbClr val="617180"/>
                </a:solidFill>
                <a:latin typeface="Arial" pitchFamily="34" charset="0"/>
                <a:ea typeface="Arial" pitchFamily="34" charset="-122"/>
                <a:cs typeface="Arial" pitchFamily="34" charset="-120"/>
              </a:rPr>
              <a:t>service + mobile test files</a:t>
            </a:r>
            <a:endParaRPr lang="en-US" sz="940" dirty="0"/>
          </a:p>
        </p:txBody>
      </p:sp>
      <p:sp>
        <p:nvSpPr>
          <p:cNvPr id="41" name="Shape 39"/>
          <p:cNvSpPr/>
          <p:nvPr/>
        </p:nvSpPr>
        <p:spPr>
          <a:xfrm>
            <a:off x="658368" y="5650992"/>
            <a:ext cx="10881360" cy="438912"/>
          </a:xfrm>
          <a:prstGeom prst="roundRect">
            <a:avLst>
              <a:gd name="adj" fmla="val 16667"/>
            </a:avLst>
          </a:prstGeom>
          <a:solidFill>
            <a:srgbClr val="0B1B2B"/>
          </a:solidFill>
          <a:ln w="12700">
            <a:solidFill>
              <a:srgbClr val="0B1B2B">
                <a:alpha val="0"/>
              </a:srgbClr>
            </a:solidFill>
            <a:prstDash val="solid"/>
          </a:ln>
        </p:spPr>
      </p:sp>
      <p:sp>
        <p:nvSpPr>
          <p:cNvPr id="42" name="Text 40"/>
          <p:cNvSpPr/>
          <p:nvPr/>
        </p:nvSpPr>
        <p:spPr>
          <a:xfrm>
            <a:off x="859536" y="5769864"/>
            <a:ext cx="10479024" cy="16459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rial" pitchFamily="34" charset="0"/>
                <a:ea typeface="Arial" pitchFamily="34" charset="-122"/>
                <a:cs typeface="Arial" pitchFamily="34" charset="-120"/>
              </a:rPr>
              <a:t>Ưu tiên nghiệm thu: chạy được flow thật, state đúng, reconnect và đối soát không trùng.</a:t>
            </a:r>
            <a:endParaRPr lang="en-US" sz="1100" dirty="0"/>
          </a:p>
        </p:txBody>
      </p:sp>
      <p:sp>
        <p:nvSpPr>
          <p:cNvPr id="43" name="Shape 41"/>
          <p:cNvSpPr/>
          <p:nvPr/>
        </p:nvSpPr>
        <p:spPr>
          <a:xfrm>
            <a:off x="502920" y="6419088"/>
            <a:ext cx="11155680" cy="0"/>
          </a:xfrm>
          <a:prstGeom prst="line">
            <a:avLst/>
          </a:prstGeom>
          <a:noFill/>
          <a:ln w="8255">
            <a:solidFill>
              <a:srgbClr val="D9E2E8"/>
            </a:solidFill>
            <a:prstDash val="solid"/>
            <a:headEnd type="none"/>
            <a:tailEnd type="none"/>
          </a:ln>
        </p:spPr>
      </p:sp>
      <p:sp>
        <p:nvSpPr>
          <p:cNvPr id="44" name="Text 42"/>
          <p:cNvSpPr/>
          <p:nvPr/>
        </p:nvSpPr>
        <p:spPr>
          <a:xfrm>
            <a:off x="530352" y="6473952"/>
            <a:ext cx="8046720" cy="164592"/>
          </a:xfrm>
          <a:prstGeom prst="rect">
            <a:avLst/>
          </a:prstGeom>
          <a:noFill/>
          <a:ln/>
        </p:spPr>
        <p:txBody>
          <a:bodyPr wrap="square" lIns="0" tIns="0" rIns="0" bIns="0" rtlCol="0" anchor="ctr">
            <a:normAutofit/>
          </a:bodyPr>
          <a:lstStyle/>
          <a:p>
            <a:pPr algn="l" indent="0" marL="0">
              <a:lnSpc>
                <a:spcPct val="100000"/>
              </a:lnSpc>
              <a:buNone/>
            </a:pPr>
            <a:r>
              <a:rPr lang="en-US" sz="750" dirty="0">
                <a:solidFill>
                  <a:srgbClr val="85929E"/>
                </a:solidFill>
                <a:latin typeface="Arial" pitchFamily="34" charset="0"/>
                <a:ea typeface="Arial" pitchFamily="34" charset="-122"/>
                <a:cs typeface="Arial" pitchFamily="34" charset="-120"/>
              </a:rPr>
              <a:t>Nguồn: docs/implementation/README.md • thống kê file trong repo</a:t>
            </a:r>
            <a:endParaRPr lang="en-US" sz="750" dirty="0"/>
          </a:p>
        </p:txBody>
      </p:sp>
      <p:sp>
        <p:nvSpPr>
          <p:cNvPr id="45" name="Text 43"/>
          <p:cNvSpPr/>
          <p:nvPr/>
        </p:nvSpPr>
        <p:spPr>
          <a:xfrm>
            <a:off x="11201400" y="6455664"/>
            <a:ext cx="411480" cy="182880"/>
          </a:xfrm>
          <a:prstGeom prst="rect">
            <a:avLst/>
          </a:prstGeom>
          <a:noFill/>
          <a:ln/>
        </p:spPr>
        <p:txBody>
          <a:bodyPr wrap="square" lIns="0" tIns="0" rIns="0" bIns="0" rtlCol="0" anchor="ctr">
            <a:normAutofit/>
          </a:bodyPr>
          <a:lstStyle/>
          <a:p>
            <a:pPr algn="r" indent="0" marL="0">
              <a:lnSpc>
                <a:spcPct val="100000"/>
              </a:lnSpc>
              <a:buNone/>
            </a:pPr>
            <a:r>
              <a:rPr lang="en-US" sz="850" b="1" dirty="0">
                <a:solidFill>
                  <a:srgbClr val="617180"/>
                </a:solidFill>
                <a:latin typeface="Arial" pitchFamily="34" charset="0"/>
                <a:ea typeface="Arial" pitchFamily="34" charset="-122"/>
                <a:cs typeface="Arial" pitchFamily="34" charset="-120"/>
              </a:rPr>
              <a:t>11</a:t>
            </a:r>
            <a:endParaRPr lang="en-US" sz="850" dirty="0"/>
          </a:p>
        </p:txBody>
      </p:sp>
      <p:sp>
        <p:nvSpPr>
          <p:cNvPr id="25" name="Slide Number Placeholder 0"/>
          <p:cNvSpPr>
            <a:spLocks noGrp="1"/>
          </p:cNvSpPr>
          <p:nvPr>
            <p:ph type="sldNum" sz="quarter" idx="4294967295"/>
          </p:nvPr>
        </p:nvSpPr>
        <p:spPr>
          <a:xfrm>
            <a:off x="11631168"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80909F"/>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2B"/>
        </a:solidFill>
      </p:bgPr>
    </p:bg>
    <p:spTree>
      <p:nvGrpSpPr>
        <p:cNvPr id="1" name=""/>
        <p:cNvGrpSpPr/>
        <p:nvPr/>
      </p:nvGrpSpPr>
      <p:grpSpPr>
        <a:xfrm>
          <a:off x="0" y="0"/>
          <a:ext cx="0" cy="0"/>
          <a:chOff x="0" y="0"/>
          <a:chExt cx="0" cy="0"/>
        </a:xfrm>
      </p:grpSpPr>
      <p:sp>
        <p:nvSpPr>
          <p:cNvPr id="2" name="Text 0"/>
          <p:cNvSpPr/>
          <p:nvPr/>
        </p:nvSpPr>
        <p:spPr>
          <a:xfrm>
            <a:off x="566928" y="384048"/>
            <a:ext cx="2834640" cy="201168"/>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18C98B"/>
                </a:solidFill>
                <a:latin typeface="Arial" pitchFamily="34" charset="0"/>
                <a:ea typeface="Arial" pitchFamily="34" charset="-122"/>
                <a:cs typeface="Arial" pitchFamily="34" charset="-120"/>
              </a:rPr>
              <a:t>11 • KẾT LUẬN</a:t>
            </a:r>
            <a:endParaRPr lang="en-US" sz="900" dirty="0"/>
          </a:p>
        </p:txBody>
      </p:sp>
      <p:sp>
        <p:nvSpPr>
          <p:cNvPr id="3" name="Text 1"/>
          <p:cNvSpPr/>
          <p:nvPr/>
        </p:nvSpPr>
        <p:spPr>
          <a:xfrm>
            <a:off x="566928" y="658368"/>
            <a:ext cx="8046720" cy="493776"/>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FFFFFF"/>
                </a:solidFill>
                <a:latin typeface="Arial" pitchFamily="34" charset="0"/>
                <a:ea typeface="Arial" pitchFamily="34" charset="-122"/>
                <a:cs typeface="Arial" pitchFamily="34" charset="-120"/>
              </a:rPr>
              <a:t>Kịch bản demo 3 phút</a:t>
            </a:r>
            <a:endParaRPr lang="en-US" sz="2900" dirty="0"/>
          </a:p>
        </p:txBody>
      </p:sp>
      <p:sp>
        <p:nvSpPr>
          <p:cNvPr id="4" name="Text 2"/>
          <p:cNvSpPr/>
          <p:nvPr/>
        </p:nvSpPr>
        <p:spPr>
          <a:xfrm>
            <a:off x="585216" y="1234440"/>
            <a:ext cx="9875520" cy="274320"/>
          </a:xfrm>
          <a:prstGeom prst="rect">
            <a:avLst/>
          </a:prstGeom>
          <a:noFill/>
          <a:ln/>
        </p:spPr>
        <p:txBody>
          <a:bodyPr wrap="square" lIns="0" tIns="0" rIns="0" bIns="0" rtlCol="0" anchor="ctr">
            <a:normAutofit/>
          </a:bodyPr>
          <a:lstStyle/>
          <a:p>
            <a:pPr algn="l" indent="0" marL="0">
              <a:lnSpc>
                <a:spcPct val="100000"/>
              </a:lnSpc>
              <a:buNone/>
            </a:pPr>
            <a:r>
              <a:rPr lang="en-US" sz="1200" dirty="0">
                <a:solidFill>
                  <a:srgbClr val="B9C9D5"/>
                </a:solidFill>
                <a:latin typeface="Arial" pitchFamily="34" charset="0"/>
                <a:ea typeface="Arial" pitchFamily="34" charset="-122"/>
                <a:cs typeface="Arial" pitchFamily="34" charset="-120"/>
              </a:rPr>
              <a:t>Một câu chuyện ngắn để chứng minh hệ thống chạy xuyên suốt.</a:t>
            </a:r>
            <a:endParaRPr lang="en-US" sz="1200" dirty="0"/>
          </a:p>
        </p:txBody>
      </p:sp>
      <p:sp>
        <p:nvSpPr>
          <p:cNvPr id="5" name="Shape 3"/>
          <p:cNvSpPr/>
          <p:nvPr/>
        </p:nvSpPr>
        <p:spPr>
          <a:xfrm>
            <a:off x="768096" y="1975104"/>
            <a:ext cx="438912" cy="438912"/>
          </a:xfrm>
          <a:prstGeom prst="ellipse">
            <a:avLst/>
          </a:prstGeom>
          <a:solidFill>
            <a:srgbClr val="18C98B"/>
          </a:solidFill>
          <a:ln w="12700">
            <a:solidFill>
              <a:srgbClr val="18C98B">
                <a:alpha val="0"/>
              </a:srgbClr>
            </a:solidFill>
            <a:prstDash val="solid"/>
          </a:ln>
        </p:spPr>
      </p:sp>
      <p:sp>
        <p:nvSpPr>
          <p:cNvPr id="6" name="Text 4"/>
          <p:cNvSpPr/>
          <p:nvPr/>
        </p:nvSpPr>
        <p:spPr>
          <a:xfrm>
            <a:off x="768096" y="2066544"/>
            <a:ext cx="438912" cy="15544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1481328" y="1965960"/>
            <a:ext cx="1508760" cy="20116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8C98B"/>
                </a:solidFill>
                <a:latin typeface="Arial" pitchFamily="34" charset="0"/>
                <a:ea typeface="Arial" pitchFamily="34" charset="-122"/>
                <a:cs typeface="Arial" pitchFamily="34" charset="-120"/>
              </a:rPr>
              <a:t>Customer</a:t>
            </a:r>
            <a:endParaRPr lang="en-US" sz="1400" dirty="0"/>
          </a:p>
        </p:txBody>
      </p:sp>
      <p:sp>
        <p:nvSpPr>
          <p:cNvPr id="8" name="Text 6"/>
          <p:cNvSpPr/>
          <p:nvPr/>
        </p:nvSpPr>
        <p:spPr>
          <a:xfrm>
            <a:off x="2999232" y="1965960"/>
            <a:ext cx="7040880" cy="20116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Đăng nhập → chọn Delivery → nhận quote → tạo đơn</a:t>
            </a:r>
            <a:endParaRPr lang="en-US" sz="1300" dirty="0"/>
          </a:p>
        </p:txBody>
      </p:sp>
      <p:sp>
        <p:nvSpPr>
          <p:cNvPr id="9" name="Shape 7"/>
          <p:cNvSpPr/>
          <p:nvPr/>
        </p:nvSpPr>
        <p:spPr>
          <a:xfrm>
            <a:off x="987552" y="2487168"/>
            <a:ext cx="8979408" cy="0"/>
          </a:xfrm>
          <a:prstGeom prst="line">
            <a:avLst/>
          </a:prstGeom>
          <a:noFill/>
          <a:ln w="10160">
            <a:solidFill>
              <a:srgbClr val="29445A"/>
            </a:solidFill>
            <a:prstDash val="solid"/>
            <a:headEnd type="none"/>
            <a:tailEnd type="none"/>
          </a:ln>
        </p:spPr>
      </p:sp>
      <p:sp>
        <p:nvSpPr>
          <p:cNvPr id="10" name="Shape 8"/>
          <p:cNvSpPr/>
          <p:nvPr/>
        </p:nvSpPr>
        <p:spPr>
          <a:xfrm>
            <a:off x="768096" y="2779776"/>
            <a:ext cx="438912" cy="438912"/>
          </a:xfrm>
          <a:prstGeom prst="ellipse">
            <a:avLst/>
          </a:prstGeom>
          <a:solidFill>
            <a:srgbClr val="18C98B"/>
          </a:solidFill>
          <a:ln w="12700">
            <a:solidFill>
              <a:srgbClr val="18C98B">
                <a:alpha val="0"/>
              </a:srgbClr>
            </a:solidFill>
            <a:prstDash val="solid"/>
          </a:ln>
        </p:spPr>
      </p:sp>
      <p:sp>
        <p:nvSpPr>
          <p:cNvPr id="11" name="Text 9"/>
          <p:cNvSpPr/>
          <p:nvPr/>
        </p:nvSpPr>
        <p:spPr>
          <a:xfrm>
            <a:off x="768096" y="2871216"/>
            <a:ext cx="438912" cy="15544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481328" y="2770632"/>
            <a:ext cx="1508760" cy="20116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8C98B"/>
                </a:solidFill>
                <a:latin typeface="Arial" pitchFamily="34" charset="0"/>
                <a:ea typeface="Arial" pitchFamily="34" charset="-122"/>
                <a:cs typeface="Arial" pitchFamily="34" charset="-120"/>
              </a:rPr>
              <a:t>Driver</a:t>
            </a:r>
            <a:endParaRPr lang="en-US" sz="1400" dirty="0"/>
          </a:p>
        </p:txBody>
      </p:sp>
      <p:sp>
        <p:nvSpPr>
          <p:cNvPr id="13" name="Text 11"/>
          <p:cNvSpPr/>
          <p:nvPr/>
        </p:nvSpPr>
        <p:spPr>
          <a:xfrm>
            <a:off x="2999232" y="2770632"/>
            <a:ext cx="7040880" cy="20116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Online → nhận offer → accept → cập nhật vị trí</a:t>
            </a:r>
            <a:endParaRPr lang="en-US" sz="1300" dirty="0"/>
          </a:p>
        </p:txBody>
      </p:sp>
      <p:sp>
        <p:nvSpPr>
          <p:cNvPr id="14" name="Shape 12"/>
          <p:cNvSpPr/>
          <p:nvPr/>
        </p:nvSpPr>
        <p:spPr>
          <a:xfrm>
            <a:off x="987552" y="3291840"/>
            <a:ext cx="8979408" cy="0"/>
          </a:xfrm>
          <a:prstGeom prst="line">
            <a:avLst/>
          </a:prstGeom>
          <a:noFill/>
          <a:ln w="10160">
            <a:solidFill>
              <a:srgbClr val="29445A"/>
            </a:solidFill>
            <a:prstDash val="solid"/>
            <a:headEnd type="none"/>
            <a:tailEnd type="none"/>
          </a:ln>
        </p:spPr>
      </p:sp>
      <p:sp>
        <p:nvSpPr>
          <p:cNvPr id="15" name="Shape 13"/>
          <p:cNvSpPr/>
          <p:nvPr/>
        </p:nvSpPr>
        <p:spPr>
          <a:xfrm>
            <a:off x="768096" y="3584448"/>
            <a:ext cx="438912" cy="438912"/>
          </a:xfrm>
          <a:prstGeom prst="ellipse">
            <a:avLst/>
          </a:prstGeom>
          <a:solidFill>
            <a:srgbClr val="18C98B"/>
          </a:solidFill>
          <a:ln w="12700">
            <a:solidFill>
              <a:srgbClr val="18C98B">
                <a:alpha val="0"/>
              </a:srgbClr>
            </a:solidFill>
            <a:prstDash val="solid"/>
          </a:ln>
        </p:spPr>
      </p:sp>
      <p:sp>
        <p:nvSpPr>
          <p:cNvPr id="16" name="Text 14"/>
          <p:cNvSpPr/>
          <p:nvPr/>
        </p:nvSpPr>
        <p:spPr>
          <a:xfrm>
            <a:off x="768096" y="3675888"/>
            <a:ext cx="438912" cy="15544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1481328" y="3575304"/>
            <a:ext cx="1508760" cy="20116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8C98B"/>
                </a:solidFill>
                <a:latin typeface="Arial" pitchFamily="34" charset="0"/>
                <a:ea typeface="Arial" pitchFamily="34" charset="-122"/>
                <a:cs typeface="Arial" pitchFamily="34" charset="-120"/>
              </a:rPr>
              <a:t>Realtime</a:t>
            </a:r>
            <a:endParaRPr lang="en-US" sz="1400" dirty="0"/>
          </a:p>
        </p:txBody>
      </p:sp>
      <p:sp>
        <p:nvSpPr>
          <p:cNvPr id="18" name="Text 16"/>
          <p:cNvSpPr/>
          <p:nvPr/>
        </p:nvSpPr>
        <p:spPr>
          <a:xfrm>
            <a:off x="2999232" y="3575304"/>
            <a:ext cx="7040880" cy="20116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Customer thấy trạng thái / ETA qua booking room</a:t>
            </a:r>
            <a:endParaRPr lang="en-US" sz="1300" dirty="0"/>
          </a:p>
        </p:txBody>
      </p:sp>
      <p:sp>
        <p:nvSpPr>
          <p:cNvPr id="19" name="Shape 17"/>
          <p:cNvSpPr/>
          <p:nvPr/>
        </p:nvSpPr>
        <p:spPr>
          <a:xfrm>
            <a:off x="987552" y="4096512"/>
            <a:ext cx="8979408" cy="0"/>
          </a:xfrm>
          <a:prstGeom prst="line">
            <a:avLst/>
          </a:prstGeom>
          <a:noFill/>
          <a:ln w="10160">
            <a:solidFill>
              <a:srgbClr val="29445A"/>
            </a:solidFill>
            <a:prstDash val="solid"/>
            <a:headEnd type="none"/>
            <a:tailEnd type="none"/>
          </a:ln>
        </p:spPr>
      </p:sp>
      <p:sp>
        <p:nvSpPr>
          <p:cNvPr id="20" name="Shape 18"/>
          <p:cNvSpPr/>
          <p:nvPr/>
        </p:nvSpPr>
        <p:spPr>
          <a:xfrm>
            <a:off x="768096" y="4389120"/>
            <a:ext cx="438912" cy="438912"/>
          </a:xfrm>
          <a:prstGeom prst="ellipse">
            <a:avLst/>
          </a:prstGeom>
          <a:solidFill>
            <a:srgbClr val="F4B942"/>
          </a:solidFill>
          <a:ln w="12700">
            <a:solidFill>
              <a:srgbClr val="F4B942">
                <a:alpha val="0"/>
              </a:srgbClr>
            </a:solidFill>
            <a:prstDash val="solid"/>
          </a:ln>
        </p:spPr>
      </p:sp>
      <p:sp>
        <p:nvSpPr>
          <p:cNvPr id="21" name="Text 19"/>
          <p:cNvSpPr/>
          <p:nvPr/>
        </p:nvSpPr>
        <p:spPr>
          <a:xfrm>
            <a:off x="768096" y="4480560"/>
            <a:ext cx="438912" cy="155448"/>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0B1B2B"/>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1481328" y="4379976"/>
            <a:ext cx="1508760" cy="201168"/>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4B942"/>
                </a:solidFill>
                <a:latin typeface="Arial" pitchFamily="34" charset="0"/>
                <a:ea typeface="Arial" pitchFamily="34" charset="-122"/>
                <a:cs typeface="Arial" pitchFamily="34" charset="-120"/>
              </a:rPr>
              <a:t>Settlement</a:t>
            </a:r>
            <a:endParaRPr lang="en-US" sz="1400" dirty="0"/>
          </a:p>
        </p:txBody>
      </p:sp>
      <p:sp>
        <p:nvSpPr>
          <p:cNvPr id="23" name="Text 21"/>
          <p:cNvSpPr/>
          <p:nvPr/>
        </p:nvSpPr>
        <p:spPr>
          <a:xfrm>
            <a:off x="2999232" y="4379976"/>
            <a:ext cx="7040880" cy="201168"/>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Hoàn tất → receipt → ledger → rating</a:t>
            </a:r>
            <a:endParaRPr lang="en-US" sz="1300" dirty="0"/>
          </a:p>
        </p:txBody>
      </p:sp>
      <p:sp>
        <p:nvSpPr>
          <p:cNvPr id="24" name="Shape 22"/>
          <p:cNvSpPr/>
          <p:nvPr/>
        </p:nvSpPr>
        <p:spPr>
          <a:xfrm>
            <a:off x="987552" y="4901184"/>
            <a:ext cx="8979408" cy="0"/>
          </a:xfrm>
          <a:prstGeom prst="line">
            <a:avLst/>
          </a:prstGeom>
          <a:noFill/>
          <a:ln w="10160">
            <a:solidFill>
              <a:srgbClr val="29445A"/>
            </a:solidFill>
            <a:prstDash val="solid"/>
            <a:headEnd type="none"/>
            <a:tailEnd type="none"/>
          </a:ln>
        </p:spPr>
      </p:sp>
      <p:sp>
        <p:nvSpPr>
          <p:cNvPr id="25" name="Shape 23"/>
          <p:cNvSpPr/>
          <p:nvPr/>
        </p:nvSpPr>
        <p:spPr>
          <a:xfrm>
            <a:off x="713232" y="5504688"/>
            <a:ext cx="10515600" cy="548640"/>
          </a:xfrm>
          <a:prstGeom prst="roundRect">
            <a:avLst>
              <a:gd name="adj" fmla="val 13333"/>
            </a:avLst>
          </a:prstGeom>
          <a:solidFill>
            <a:srgbClr val="18C98B"/>
          </a:solidFill>
          <a:ln w="12700">
            <a:solidFill>
              <a:srgbClr val="18C98B">
                <a:alpha val="0"/>
              </a:srgbClr>
            </a:solidFill>
            <a:prstDash val="solid"/>
          </a:ln>
        </p:spPr>
      </p:sp>
      <p:sp>
        <p:nvSpPr>
          <p:cNvPr id="26" name="Text 24"/>
          <p:cNvSpPr/>
          <p:nvPr/>
        </p:nvSpPr>
        <p:spPr>
          <a:xfrm>
            <a:off x="932688" y="5669280"/>
            <a:ext cx="10076688" cy="201168"/>
          </a:xfrm>
          <a:prstGeom prst="rect">
            <a:avLst/>
          </a:prstGeom>
          <a:noFill/>
          <a:ln/>
        </p:spPr>
        <p:txBody>
          <a:bodyPr wrap="square" lIns="0" tIns="0" rIns="0" bIns="0" rtlCol="0" anchor="ctr">
            <a:normAutofit/>
          </a:bodyPr>
          <a:lstStyle/>
          <a:p>
            <a:pPr algn="ctr" indent="0" marL="0">
              <a:lnSpc>
                <a:spcPct val="100000"/>
              </a:lnSpc>
              <a:buNone/>
            </a:pPr>
            <a:r>
              <a:rPr lang="en-US" sz="1400" b="1" dirty="0">
                <a:solidFill>
                  <a:srgbClr val="0B1B2B"/>
                </a:solidFill>
                <a:latin typeface="Arial" pitchFamily="34" charset="0"/>
                <a:ea typeface="Arial" pitchFamily="34" charset="-122"/>
                <a:cs typeface="Arial" pitchFamily="34" charset="-120"/>
              </a:rPr>
              <a:t>FastRide Express = hai app tách vai trò + một backend giữ sự nhất quán.</a:t>
            </a:r>
            <a:endParaRPr lang="en-US" sz="1400" dirty="0"/>
          </a:p>
        </p:txBody>
      </p:sp>
      <p:sp>
        <p:nvSpPr>
          <p:cNvPr id="27" name="Text 25"/>
          <p:cNvSpPr/>
          <p:nvPr/>
        </p:nvSpPr>
        <p:spPr>
          <a:xfrm>
            <a:off x="731520" y="6281928"/>
            <a:ext cx="10469880" cy="164592"/>
          </a:xfrm>
          <a:prstGeom prst="rect">
            <a:avLst/>
          </a:prstGeom>
          <a:noFill/>
          <a:ln/>
        </p:spPr>
        <p:txBody>
          <a:bodyPr wrap="square" lIns="0" tIns="0" rIns="0" bIns="0" rtlCol="0" anchor="ctr">
            <a:normAutofit/>
          </a:bodyPr>
          <a:lstStyle/>
          <a:p>
            <a:pPr algn="ctr" indent="0" marL="0">
              <a:lnSpc>
                <a:spcPct val="100000"/>
              </a:lnSpc>
              <a:buNone/>
            </a:pPr>
            <a:r>
              <a:rPr lang="en-US" sz="1050" dirty="0">
                <a:solidFill>
                  <a:srgbClr val="B9C9D5"/>
                </a:solidFill>
                <a:latin typeface="Arial" pitchFamily="34" charset="0"/>
                <a:ea typeface="Arial" pitchFamily="34" charset="-122"/>
                <a:cs typeface="Arial" pitchFamily="34" charset="-120"/>
              </a:rPr>
              <a:t>Cảm ơn hội đồng. Sẵn sàng demo và trả lời câu hỏi.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FastRide Express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FastRide Express - Delivery &amp; Drive</dc:title>
  <dc:subject>Bảo vệ đồ án nền tảng Delivery &amp; Drive</dc:subject>
  <dc:creator>Graduation project</dc:creator>
  <cp:lastModifiedBy>Graduation project</cp:lastModifiedBy>
  <cp:revision>1</cp:revision>
  <dcterms:created xsi:type="dcterms:W3CDTF">2026-09-29T22:56:54Z</dcterms:created>
  <dcterms:modified xsi:type="dcterms:W3CDTF">2026-09-29T22:56:54Z</dcterms:modified>
</cp:coreProperties>
</file>